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F2F0EA"/>
                </a:solidFill>
                <a:latin typeface="Calibri"/>
              </a:rPr>
              <a:t>Local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E8A83A"/>
                </a:solidFill>
                <a:latin typeface="Calibri"/>
              </a:rPr>
              <a:t>Architecture · reliability · memory · cost · Local vs Mothership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03320"/>
            <a:ext cx="219456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A8AFB8"/>
                </a:solidFill>
                <a:latin typeface="Calibri"/>
              </a:rPr>
              <a:t>Hybrid eng + leadership · Aug 10 2026 · apps/sim/local-copilot</a:t>
            </a:r>
          </a:p>
          <a:p>
            <a:pPr algn="l"/>
            <a:r>
              <a:rPr sz="1300" b="0">
                <a:solidFill>
                  <a:srgbClr val="A8AFB8"/>
                </a:solidFill>
                <a:latin typeface="Calibri"/>
              </a:rPr>
              <a:t>Interleaved L (leadership) / E (engineering) tracks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Why Local Copilot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3D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440680" cy="21945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99616"/>
            <a:ext cx="5111496" cy="19385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Data residency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Prompts, workflows, and chat stay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in your Postgres and LLM account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— not relayed via cloud copilot.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5440680" cy="21945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499616"/>
            <a:ext cx="5111496" cy="19385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Air-gapped ready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Outbound only to your provider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endpoint (Anthropic or internal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OpenAI-compatible gateway).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840480"/>
            <a:ext cx="5440680" cy="21945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968496"/>
            <a:ext cx="5111496" cy="19385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Cost control (BYO)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Bring your own API keys and models.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Spend caps still apply when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billing is enabled.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840480"/>
            <a:ext cx="5440680" cy="21945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3968496"/>
            <a:ext cx="5111496" cy="19385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Gradual rollout (allowlist + switch)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Deny-by-default allowlist plus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per-user Local / Cloud switch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in the chat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One pipeline, two backends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91440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" y="1527048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435608"/>
            <a:ext cx="1027785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Browser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useChat + optional Local/Cloud switch → copilotBackend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31720"/>
            <a:ext cx="11155680" cy="91440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532888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2441448"/>
            <a:ext cx="1027785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Lifecycle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POST /api/mothership/chat → auth, persist, open SSE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37560"/>
            <a:ext cx="11155680" cy="91440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" y="3538728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3447288"/>
            <a:ext cx="1027785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Router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shouldRouteToLocalCopilot() — single control point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343400"/>
            <a:ext cx="11155680" cy="91440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" y="4544568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4453128"/>
            <a:ext cx="1027785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LOCAL or CLOUD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runLocalCopilotAgent  ·  or  ·  Go Mothership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349240"/>
            <a:ext cx="11155680" cy="91440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" y="5550408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5458968"/>
            <a:ext cx="1027785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SSE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Same Mothership stream schema to the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What users 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3D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14884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45336"/>
            <a:ext cx="181965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Same UI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Home chat and workflow editor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unchanged — no client fork.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417320"/>
            <a:ext cx="214884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1545336"/>
            <a:ext cx="181965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Create / edit / run / deploy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Natural-language workflow build,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debug, run, and deploy paths.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417320"/>
            <a:ext cx="214884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1545336"/>
            <a:ext cx="181965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Diff accept / reject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Canvas diff overlay on every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workflow edit — never silent apply.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417320"/>
            <a:ext cx="214884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5512" y="1545336"/>
            <a:ext cx="181965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Attachments &amp; @-mentions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Files plus @ workflows, logs,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KBs, tables, and files.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46920" y="1417320"/>
            <a:ext cx="214884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11512" y="1545336"/>
            <a:ext cx="181965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Streaming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Live SSE text deltas, tool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events, and status updates.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Local agent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577840" cy="137160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" y="1572768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481328"/>
            <a:ext cx="4700016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Context build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Rebuild prompt from Postgres + token budget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577840" cy="137160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3952" y="1572768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2592" y="1481328"/>
            <a:ext cx="4700016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Session memory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Scratchpad goals, decisions, constraints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71800"/>
            <a:ext cx="5577840" cy="137160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" y="3172968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3081528"/>
            <a:ext cx="4700016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Classify / specialists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Route domains to 12 in-process specialists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971800"/>
            <a:ext cx="5577840" cy="137160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73952" y="3172968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3081528"/>
            <a:ext cx="4700016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LLM + tools ≤20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Stream rounds until done or round cap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72000"/>
            <a:ext cx="5577840" cy="137160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" y="4773168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4681728"/>
            <a:ext cx="4700016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Verify / complete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Post-mutation checks + completion policy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572000"/>
            <a:ext cx="5577840" cy="137160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73952" y="4773168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4681728"/>
            <a:ext cx="4700016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SSE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Emit Mothership-compatible stream events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3D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2148840" cy="42062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148840" cy="91440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194560"/>
            <a:ext cx="19202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600" b="1">
                <a:solidFill>
                  <a:srgbClr val="E8A83A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383280"/>
            <a:ext cx="1920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2F0EA"/>
                </a:solidFill>
                <a:latin typeface="Calibri"/>
              </a:rPr>
              <a:t>External deps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874519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A8AFB8"/>
                </a:solidFill>
                <a:latin typeface="Calibri"/>
              </a:rPr>
              <a:t>No cloud copilot for Local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554480"/>
            <a:ext cx="2148840" cy="42062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1554480"/>
            <a:ext cx="2148840" cy="91440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2194560"/>
            <a:ext cx="19202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600" b="1">
                <a:solidFill>
                  <a:srgbClr val="E8A83A"/>
                </a:solidFill>
                <a:latin typeface="Calibr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3383280"/>
            <a:ext cx="1920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2F0EA"/>
                </a:solidFill>
                <a:latin typeface="Calibri"/>
              </a:rPr>
              <a:t>Specialists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114800"/>
            <a:ext cx="1874519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A8AFB8"/>
                </a:solidFill>
                <a:latin typeface="Calibri"/>
              </a:rPr>
              <a:t>Domain entry tools for the parent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1554480"/>
            <a:ext cx="2148840" cy="42062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1554480"/>
            <a:ext cx="2148840" cy="91440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2194560"/>
            <a:ext cx="19202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600" b="1">
                <a:solidFill>
                  <a:srgbClr val="E8A83A"/>
                </a:solidFill>
                <a:latin typeface="Calibri"/>
              </a:rPr>
              <a:t>~86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3383280"/>
            <a:ext cx="1920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2F0EA"/>
                </a:solidFill>
                <a:latin typeface="Calibri"/>
              </a:rPr>
              <a:t>Leaf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114800"/>
            <a:ext cx="1874519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A8AFB8"/>
                </a:solidFill>
                <a:latin typeface="Calibri"/>
              </a:rPr>
              <a:t>Delegated + native + local-only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1554480"/>
            <a:ext cx="2148840" cy="42062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20" y="1554480"/>
            <a:ext cx="2148840" cy="91440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194560"/>
            <a:ext cx="19202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600" b="1">
                <a:solidFill>
                  <a:srgbClr val="E8A83A"/>
                </a:solidFill>
                <a:latin typeface="Calibri"/>
              </a:rPr>
              <a:t>120k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3383280"/>
            <a:ext cx="1920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2F0EA"/>
                </a:solidFill>
                <a:latin typeface="Calibri"/>
              </a:rPr>
              <a:t>Token budget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4114800"/>
            <a:ext cx="1874519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A8AFB8"/>
                </a:solidFill>
                <a:latin typeface="Calibri"/>
              </a:rPr>
              <a:t>Prompt budget (js-tiktoken)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46920" y="1554480"/>
            <a:ext cx="2148840" cy="42062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46920" y="1554480"/>
            <a:ext cx="2148840" cy="91440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56648" y="2194560"/>
            <a:ext cx="19202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600" b="1">
                <a:solidFill>
                  <a:srgbClr val="E8A83A"/>
                </a:solidFill>
                <a:latin typeface="Calibri"/>
              </a:rPr>
              <a:t>≤20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3383280"/>
            <a:ext cx="1920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2F0EA"/>
                </a:solidFill>
                <a:latin typeface="Calibri"/>
              </a:rPr>
              <a:t>Tool rounds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4114800"/>
            <a:ext cx="1874519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A8AFB8"/>
                </a:solidFill>
                <a:latin typeface="Calibri"/>
              </a:rPr>
              <a:t>Max tool rounds per turn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SPECIALISTS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Parent delegates; specialists do the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3D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61188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45336"/>
            <a:ext cx="328269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Same 12 Cloud names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Parent calls workflow, run, deploy,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auth, knowledge, table, scheduled_task,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agent, research, media, file, superagent.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17320"/>
            <a:ext cx="361188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545336"/>
            <a:ext cx="328269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In-process leaf loops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Each specialist runs a nested tool loop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with its domain catalog only — no Go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subagent processes, no nested specialists.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417320"/>
            <a:ext cx="361188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45336"/>
            <a:ext cx="328269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Why it matters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Parent sees 12 entry tools (token-cheap).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Domain leaves stay partitioned (~86 total).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Blast radius stays behind server authz.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12 specialists + hybrid parent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697480" cy="12344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481328"/>
            <a:ext cx="244144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2F0EA"/>
                </a:solidFill>
                <a:latin typeface="Calibri"/>
              </a:rPr>
              <a:t>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1874520"/>
            <a:ext cx="24414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8A83A"/>
                </a:solidFill>
                <a:latin typeface="Calibri"/>
              </a:rPr>
              <a:t>20 leaf tools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280160"/>
            <a:ext cx="2697480" cy="12344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5576" y="1481328"/>
            <a:ext cx="244144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2F0EA"/>
                </a:solidFill>
                <a:latin typeface="Calibri"/>
              </a:rPr>
              <a:t>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576" y="1874520"/>
            <a:ext cx="24414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8A83A"/>
                </a:solidFill>
                <a:latin typeface="Calibri"/>
              </a:rPr>
              <a:t>11 leaf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2697480" cy="12344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216" y="1481328"/>
            <a:ext cx="244144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2F0EA"/>
                </a:solidFill>
                <a:latin typeface="Calibri"/>
              </a:rPr>
              <a:t>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1874520"/>
            <a:ext cx="24414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8A83A"/>
                </a:solidFill>
                <a:latin typeface="Calibri"/>
              </a:rPr>
              <a:t>16 leaf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280160"/>
            <a:ext cx="2697480" cy="12344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1481328"/>
            <a:ext cx="244144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2F0EA"/>
                </a:solidFill>
                <a:latin typeface="Calibri"/>
              </a:rPr>
              <a:t>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6" y="1874520"/>
            <a:ext cx="24414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8A83A"/>
                </a:solidFill>
                <a:latin typeface="Calibri"/>
              </a:rPr>
              <a:t>6 leaf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51760"/>
            <a:ext cx="2697480" cy="12344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2852928"/>
            <a:ext cx="244144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2F0EA"/>
                </a:solidFill>
                <a:latin typeface="Calibri"/>
              </a:rPr>
              <a:t>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" y="3246120"/>
            <a:ext cx="24414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8A83A"/>
                </a:solidFill>
                <a:latin typeface="Calibri"/>
              </a:rPr>
              <a:t>2 leaf tools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2651760"/>
            <a:ext cx="2697480" cy="12344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65576" y="2852928"/>
            <a:ext cx="244144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2F0EA"/>
                </a:solidFill>
                <a:latin typeface="Calibri"/>
              </a:rPr>
              <a:t>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5576" y="3246120"/>
            <a:ext cx="24414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8A83A"/>
                </a:solidFill>
                <a:latin typeface="Calibri"/>
              </a:rPr>
              <a:t>3 leaf tools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651760"/>
            <a:ext cx="2697480" cy="12344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216" y="2852928"/>
            <a:ext cx="244144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2F0EA"/>
                </a:solidFill>
                <a:latin typeface="Calibri"/>
              </a:rPr>
              <a:t>scheduled_task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3246120"/>
            <a:ext cx="24414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8A83A"/>
                </a:solidFill>
                <a:latin typeface="Calibri"/>
              </a:rPr>
              <a:t>4 leaf tools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2651760"/>
            <a:ext cx="2697480" cy="12344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6" y="2852928"/>
            <a:ext cx="244144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2F0EA"/>
                </a:solidFill>
                <a:latin typeface="Calibri"/>
              </a:rPr>
              <a:t>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3246120"/>
            <a:ext cx="24414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8A83A"/>
                </a:solidFill>
                <a:latin typeface="Calibri"/>
              </a:rPr>
              <a:t>13 leaf tools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023360"/>
            <a:ext cx="2697480" cy="12344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" y="4224528"/>
            <a:ext cx="244144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2F0EA"/>
                </a:solidFill>
                <a:latin typeface="Calibri"/>
              </a:rPr>
              <a:t>research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" y="4617720"/>
            <a:ext cx="24414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8A83A"/>
                </a:solidFill>
                <a:latin typeface="Calibri"/>
              </a:rPr>
              <a:t>7 leaf tools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37560" y="4023360"/>
            <a:ext cx="2697480" cy="12344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65576" y="4224528"/>
            <a:ext cx="244144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2F0EA"/>
                </a:solidFill>
                <a:latin typeface="Calibri"/>
              </a:rPr>
              <a:t>media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65576" y="4617720"/>
            <a:ext cx="24414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8A83A"/>
                </a:solidFill>
                <a:latin typeface="Calibri"/>
              </a:rPr>
              <a:t>4 leaf tools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4023360"/>
            <a:ext cx="2697480" cy="12344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0216" y="4224528"/>
            <a:ext cx="244144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2F0EA"/>
                </a:solidFill>
                <a:latin typeface="Calibri"/>
              </a:rPr>
              <a:t>file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4617720"/>
            <a:ext cx="24414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8A83A"/>
                </a:solidFill>
                <a:latin typeface="Calibri"/>
              </a:rPr>
              <a:t>17 leaf tools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6840" y="4023360"/>
            <a:ext cx="2697480" cy="12344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34856" y="4224528"/>
            <a:ext cx="244144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2F0EA"/>
                </a:solidFill>
                <a:latin typeface="Calibri"/>
              </a:rPr>
              <a:t>superagent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34856" y="4617720"/>
            <a:ext cx="24414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E8A83A"/>
                </a:solidFill>
                <a:latin typeface="Calibri"/>
              </a:rPr>
              <a:t>∪ union catalog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532120"/>
            <a:ext cx="11155680" cy="10515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" y="5660136"/>
            <a:ext cx="10826496" cy="7955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Hybrid parent + escape hatch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Parent tools = intent-filtered leaves ∪ 12 specialist entries. Full catalog only via explicit escape hatch (or empty hybrid) — not on every general turn.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App-owned safety, not model self-report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3D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440680" cy="21945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99616"/>
            <a:ext cx="5111496" cy="19385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Trust the app layer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Confirmations, verify-after-write, and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completion policy live in product code —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not in whatever the model claims.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5440680" cy="21945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499616"/>
            <a:ext cx="5111496" cy="19385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Model can be wrong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Self-reported “done” / “safe” is ignored.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Mutations must pass tools and policies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the server actually runs.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840480"/>
            <a:ext cx="5440680" cy="21945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968496"/>
            <a:ext cx="5111496" cy="19385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Layered controls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Waves 1–6 stack confirmations → verify →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look-before-write → artifacts → spend → UX.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Each wave closes a known failure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840480"/>
            <a:ext cx="5440680" cy="21945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3968496"/>
            <a:ext cx="5111496" cy="19385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Same authz as Cloud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Destructive tools still hit workspace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permissions; Local adds strip-IDs and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trusted-control channels on top.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Waves 1–2 — confirm &amp; verify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5486400" cy="49377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53896"/>
            <a:ext cx="5157216" cy="4681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Wave 1 — Before risky work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Tool confirmation policy for destructive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and high-impact actions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Trusted-control SSE channel for secrets /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privileged UI (not model prose)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Strip untrusted control tags / IDs from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model-facing text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Goal: user intent + app chrome, not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injected “approve this” strings.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325880"/>
            <a:ext cx="5486400" cy="49377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453896"/>
            <a:ext cx="5157216" cy="4681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Wave 2 — After mutations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Post-mutation verify via validate_workflow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Deploy path checks check_deployment_status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Completion policy decides when the turn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is actually finished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Goal: “done” means tools passed — not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assistant narrative alone.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WRITES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Safe writes — never silent apply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3D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61188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45336"/>
            <a:ext cx="328269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No silent applies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Workflow edits never land invisibly.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User must accept the change (or Apply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on the standalone patch path).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17320"/>
            <a:ext cx="361188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545336"/>
            <a:ext cx="328269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Canvas diff overlay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Editor shows accept / reject on every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Local workflow mutation — same product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pattern as Cloud.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417320"/>
            <a:ext cx="361188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45336"/>
            <a:ext cx="328269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Standalone patch Apply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generate / propose_workflow_patch →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requiresConfirmation + explicit Apply;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apply route re-validates before write.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Waves 3–4 — write safety &amp;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5486400" cy="49377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53896"/>
            <a:ext cx="5157216" cy="4681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Wave 3 — Look-before-write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look-before-write guards on mutations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Pin IDs to the active workspace / workflow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Expected revision checks before apply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Dry-run paths where tools support them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Goal: no cross-workspace writes; no stale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revision stomps.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325880"/>
            <a:ext cx="5486400" cy="49377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453896"/>
            <a:ext cx="5157216" cy="4681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Wave 4 — Context integrity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Oversized tool results → artifacts +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load_copilot_artifact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Prompt slots for structured context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Task / session state across rounds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Snapshot freshness (generatedAt + revision)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Goal: model sees current, bounded context.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Cost &amp; ops ownership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3D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61188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45336"/>
            <a:ext cx="328269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Spend caps (when billing on)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Mothership Local turns honor the same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spend gates as Cloud before the agent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runs; usage via recordModelUsage.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17320"/>
            <a:ext cx="361188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545336"/>
            <a:ext cx="328269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BYO keys &amp; models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You own Anthropic / OpenAI-compatible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keys, model choice, and provider uptime.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No cloud copilot relay fee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417320"/>
            <a:ext cx="361188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45336"/>
            <a:ext cx="328269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Standalone audit tables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local_copilot_* path records tool calls,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patches, and audit_logs — full trail for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chat / tool / patch apply-reject.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Waves 5–6 — spend &amp; UX polish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5486400" cy="49377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53896"/>
            <a:ext cx="5157216" cy="4681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Wave 5 — Spend &amp; audit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Preflight cost estimates on confirmations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Turn cost accumulator across parent +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specialist rounds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Sanitized tool I/O for persistence / audit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Goal: billable truth + safe logs, not raw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secrets in transcripts.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325880"/>
            <a:ext cx="5486400" cy="49377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453896"/>
            <a:ext cx="5157216" cy="4681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Wave 6 — UX controls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UX phases / status copy for live turns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Patch controls (propose → Apply / reject)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Clean prose: strip untrusted tags; prefer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trusted-control channel for secrets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Goal: presentable assistant text without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leaking control protocols to the user.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What the agent remembers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3D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61188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45336"/>
            <a:ext cx="328269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Shared chat history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Transcript lives in shared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copilot_chats / copilot_messages.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Local ↔ Cloud switch keeps the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same conversation — no fork.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17320"/>
            <a:ext cx="361188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545336"/>
            <a:ext cx="328269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293B"/>
                </a:solidFill>
                <a:latin typeface="Inter"/>
              </a:rPr>
              <a:t>Session scratchpad</a:t>
            </a:r>
          </a:p>
          <a:p>
            <a:r>
              <a:rPr sz="1200" b="0">
                <a:solidFill>
                  <a:srgbClr val="1E293B"/>
                </a:solidFill>
                <a:latin typeface="Inter"/>
              </a:rPr>
              <a:t>Per-chat structured memory for</a:t>
            </a:r>
          </a:p>
          <a:p>
            <a:r>
              <a:rPr sz="1200" b="0">
                <a:solidFill>
                  <a:srgbClr val="1E293B"/>
                </a:solidFill>
                <a:latin typeface="Inter"/>
              </a:rPr>
              <a:t>this thread: goals, decisions,</a:t>
            </a:r>
          </a:p>
          <a:p>
            <a:r>
              <a:rPr sz="1200" b="0">
                <a:solidFill>
                  <a:srgbClr val="1E293B"/>
                </a:solidFill>
                <a:latin typeface="Inter"/>
              </a:rPr>
              <a:t>constraints, active directive.</a:t>
            </a:r>
          </a:p>
          <a:p>
            <a:r>
              <a:rPr sz="1200" b="0">
                <a:solidFill>
                  <a:srgbClr val="1E293B"/>
                </a:solidFill>
                <a:latin typeface="Inter"/>
              </a:rPr>
              <a:t>Stored in copilot_chats.config</a:t>
            </a:r>
          </a:p>
          <a:p>
            <a:r>
              <a:rPr sz="1200" b="0">
                <a:solidFill>
                  <a:srgbClr val="1E293B"/>
                </a:solidFill>
                <a:latin typeface="Inter"/>
              </a:rPr>
              <a:t>(mothership Local path).</a:t>
            </a:r>
          </a:p>
          <a:p>
            <a:r>
              <a:rPr sz="1200" b="0">
                <a:solidFill>
                  <a:srgbClr val="1E293B"/>
                </a:solidFill>
                <a:latin typeface="Inter"/>
              </a:rPr>
              <a:t>Survives history compaction.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417320"/>
            <a:ext cx="361188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45336"/>
            <a:ext cx="328269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293B"/>
                </a:solidFill>
                <a:latin typeface="Inter"/>
              </a:rPr>
              <a:t>Durable user_memory</a:t>
            </a:r>
          </a:p>
          <a:p>
            <a:r>
              <a:rPr sz="1200" b="0">
                <a:solidFill>
                  <a:srgbClr val="1E293B"/>
                </a:solidFill>
                <a:latin typeface="Inter"/>
              </a:rPr>
              <a:t>Preferences and entities that</a:t>
            </a:r>
          </a:p>
          <a:p>
            <a:r>
              <a:rPr sz="1200" b="0">
                <a:solidFill>
                  <a:srgbClr val="1E293B"/>
                </a:solidFill>
                <a:latin typeface="Inter"/>
              </a:rPr>
              <a:t>should outlive one chat —</a:t>
            </a:r>
          </a:p>
          <a:p>
            <a:r>
              <a:rPr sz="1200" b="0">
                <a:solidFill>
                  <a:srgbClr val="1E293B"/>
                </a:solidFill>
                <a:latin typeface="Inter"/>
              </a:rPr>
              <a:t>promoted from session memory</a:t>
            </a:r>
          </a:p>
          <a:p>
            <a:r>
              <a:rPr sz="1200" b="0">
                <a:solidFill>
                  <a:srgbClr val="1E293B"/>
                </a:solidFill>
                <a:latin typeface="Inter"/>
              </a:rPr>
              <a:t>into Postgres user_memory.</a:t>
            </a:r>
          </a:p>
          <a:p>
            <a:r>
              <a:rPr sz="1200" b="0">
                <a:solidFill>
                  <a:srgbClr val="1E293B"/>
                </a:solidFill>
                <a:latin typeface="Inter"/>
              </a:rPr>
              <a:t>Inspector + promotion share</a:t>
            </a:r>
          </a:p>
          <a:p>
            <a:r>
              <a:rPr sz="1200" b="0">
                <a:solidFill>
                  <a:srgbClr val="1E293B"/>
                </a:solidFill>
                <a:latin typeface="Inter"/>
              </a:rPr>
              <a:t>the same copilot_chats key.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Session memory phase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5486400" cy="49377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53896"/>
            <a:ext cx="5157216" cy="4681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E293B"/>
                </a:solidFill>
                <a:latin typeface="Inter"/>
              </a:rPr>
              <a:t>Structured schema (session-memory.ts)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• goals · decisions · constraints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• activeDirective (latest must-honor)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• entities: workflows / blocks / files / runs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• progress · openQuestions · approvals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• failures · verification · notes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Refresh after ~6 user turns or soft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24k history tokens; ~1.8k prompt cap.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Live Workspace snapshot beats entity IDs.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Persist key: copilot_chats.config.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sessionMemory (not local_copilot_*).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325880"/>
            <a:ext cx="5486400" cy="49377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453896"/>
            <a:ext cx="5157216" cy="4681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E293B"/>
                </a:solidFill>
                <a:latin typeface="Inter"/>
              </a:rPr>
              <a:t>Phase 2 promotion + inspector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• promote-durable-memory.ts extracts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  preference / correction / entity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  candidates (≤8 per refresh)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• Soft-persist into user_memory;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  secrets never promoted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• Skips ephemeral fields (progress,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  runs, approvals, failures, …)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• Inspector: GET …/session-memory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  reads copilot_chats.config only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• Works on mothership Local chats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• Gap: standalone /api/local-copilot/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  chat uses local_copilot_* IDs —</a:t>
            </a:r>
          </a:p>
          <a:p>
            <a:r>
              <a:rPr sz="1100" b="0">
                <a:solidFill>
                  <a:srgbClr val="1E293B"/>
                </a:solidFill>
                <a:latin typeface="Inter"/>
              </a:rPr>
              <a:t>  no copilot_chats row → empty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Why tokens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3D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61188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45336"/>
            <a:ext cx="328269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Latency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Every turn rebuilds the full prompt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from Postgres. Bloated history and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tool dumps slow every round —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parent and specialists alike.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17320"/>
            <a:ext cx="361188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545336"/>
            <a:ext cx="328269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Spend ($)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BYO keys mean you pay the provider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directly. Repeated catalogs and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oversized tool results burn budget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even when the answer is short.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417320"/>
            <a:ext cx="361188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45336"/>
            <a:ext cx="328269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Quality under load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Large workflows + long threads crowd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out the signal. Budgeting and compact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modes keep the model focused on the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active task instead of noise.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Token-cost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1155680" cy="91440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" y="1481328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389888"/>
            <a:ext cx="1027785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8k tool-result cap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format-tool-result.ts hard-caps LLM-bound JSON; overflow → artifacts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11155680" cy="91440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487168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2395728"/>
            <a:ext cx="1027785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Microcompact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Aged tool bodies → fingerprints; keep last 2 rounds verbatim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91840"/>
            <a:ext cx="11155680" cy="91440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" y="3493008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3401568"/>
            <a:ext cx="1027785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Hybrid catalog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Parent sees intent leaves ∪ 12 specialists — not the full ~86 every turn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297680"/>
            <a:ext cx="11155680" cy="91440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" y="4498848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4407408"/>
            <a:ext cx="1027785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Anthropic cache_control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Caches tools + static system; conversation breakpoint advances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303520"/>
            <a:ext cx="11155680" cy="91440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" y="5504688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5413248"/>
            <a:ext cx="1027785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120k js-tiktoken budget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Oldest conversational messages dropped until the prompt fits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REUSE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Prefer existing assets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3D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61188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45336"/>
            <a:ext cx="328269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Workflows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Edit or run what is already in the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workspace before create_workflow.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Duplicates confuse users and burn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tokens on rediscovery.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17320"/>
            <a:ext cx="361188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545336"/>
            <a:ext cx="328269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Knowledge bases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Query / add_file on an existing KB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instead of spinning up another.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Same library, clearer ownership.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417320"/>
            <a:ext cx="361188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45336"/>
            <a:ext cx="328269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Tables &amp; files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Reuse tables (get_schema / query)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and workspace files (read / edit)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before create. Confirm only when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the user wants something brand-new.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REUSE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Reuse guards + file mounting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5486400" cy="49377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53896"/>
            <a:ext cx="5157216" cy="4681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reuse-existing-guards.ts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Soft-blocks create_file / knowledge_base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create / user_table create when a match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already exists in structured context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create_workflow guard in executor.ts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(confirmNewWorkflow escape hatch)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Returns reuseExistingRequired +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followUpHint; confirmCreateNew: true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only for explicit brand-new intent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App-enforced preference — not prompt hope.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325880"/>
            <a:ext cx="5486400" cy="49377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453896"/>
            <a:ext cx="5157216" cy="4681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File mounting for code tools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function_execute / ffmpeg mount via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inputs (files / tables) with exact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VFS paths from workspace context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Save with outputs.files or outputPath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Chat uploads under uploads/ are not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sandbox-mounted — materialize_file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into files/... first (or reuse an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existing files/... path)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Wrong mounts → empty sandbox I/O.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Access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3D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61188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45336"/>
            <a:ext cx="328269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Deny-by-default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New signups get has_access = false via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DB trigger. Only explicit allowlist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grants Local — no feature-flag service.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17320"/>
            <a:ext cx="361188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545336"/>
            <a:ext cx="328269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Local / Cloud switch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Chat toolbar preference → copilotBackend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in the request (localStorage). Shared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chat history across both backends.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417320"/>
            <a:ext cx="3611880" cy="47548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45336"/>
            <a:ext cx="3282696" cy="44988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local_only pin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Users flagged local_only stay on Local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and never see the switch — residency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and compliance hard pin.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Routing gates — fail → 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10972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" y="1527048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435608"/>
            <a:ext cx="1027785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COPILOT_ENABLED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Env master switch (defaults true if unset) — false → 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60320"/>
            <a:ext cx="11155680" cy="10972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761488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2670048"/>
            <a:ext cx="1027785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has_access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Row in local_copilot_user_access with has_access / local_only — else Cloud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94760"/>
            <a:ext cx="11155680" cy="10972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" y="3995928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3904488"/>
            <a:ext cx="1027785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User preference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copilotBackend from Local/Cloud switch (skipped when local_only)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029200"/>
            <a:ext cx="11155680" cy="109728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" y="5230368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5138928"/>
            <a:ext cx="1027785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Request + DB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workspaceId + userId required; DB errors fail closed →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shouldRouteToLocalCopilot() — single control point in routing.ts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When to choose Local vs 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3D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5486400" cy="49377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53896"/>
            <a:ext cx="5157216" cy="4681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Choose Local when…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Data residency — prompts &amp; transcripts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stay in your Postgres + LLM account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Air-gap / internal gateway — outbound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only to your provider endpoint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BYO cost &amp; model freedom — Anthropic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or OpenAI-compatible, including self-host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Gradual pilot via deny-by-default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allowlist + optional local_only pins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325880"/>
            <a:ext cx="5486400" cy="49377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453896"/>
            <a:ext cx="5157216" cy="4681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Choose Cloud when…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Full Go web-tool suite — scrape_page,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crawl_website, get_page_contents,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search_library_docs, search_patterns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Managed ops — no BYO keys, allowlist,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or provider uptime to own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Instant failover — not pinned local_only;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Cloud stays available if Local provider fails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Latest Go-first features before Local port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PARITY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Capability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291840" cy="653288"/>
          </a:xfrm>
          <a:prstGeom prst="rect">
            <a:avLst/>
          </a:prstGeom>
          <a:solidFill>
            <a:srgbClr val="282D35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08176"/>
            <a:ext cx="307238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A83A"/>
                </a:solidFill>
                <a:latin typeface="Calibri"/>
              </a:rPr>
              <a:t>Capability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794760" y="1280160"/>
            <a:ext cx="3931920" cy="653288"/>
          </a:xfrm>
          <a:prstGeom prst="rect">
            <a:avLst/>
          </a:prstGeom>
          <a:solidFill>
            <a:srgbClr val="282D35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4488" y="1408176"/>
            <a:ext cx="371246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A83A"/>
                </a:solidFill>
                <a:latin typeface="Calibri"/>
              </a:rPr>
              <a:t>Local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80" y="1280160"/>
            <a:ext cx="3931920" cy="653288"/>
          </a:xfrm>
          <a:prstGeom prst="rect">
            <a:avLst/>
          </a:prstGeom>
          <a:solidFill>
            <a:srgbClr val="282D35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408176"/>
            <a:ext cx="371246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A83A"/>
                </a:solidFill>
                <a:latin typeface="Calibri"/>
              </a:rPr>
              <a:t>Cloud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38528"/>
            <a:ext cx="3291840" cy="653288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066544"/>
            <a:ext cx="307238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2F0EA"/>
                </a:solidFill>
                <a:latin typeface="Calibri"/>
              </a:rPr>
              <a:t>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1938528"/>
            <a:ext cx="3931920" cy="653288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04488" y="2066544"/>
            <a:ext cx="371246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2F0EA"/>
                </a:solidFill>
                <a:latin typeface="Calibri"/>
              </a:rPr>
              <a:t>~86 (75 catalog + local-only)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80" y="1938528"/>
            <a:ext cx="3931920" cy="653288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6408" y="2066544"/>
            <a:ext cx="371246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2F0EA"/>
                </a:solidFill>
                <a:latin typeface="Calibri"/>
              </a:rPr>
              <a:t>Full 95-tool catalog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596896"/>
            <a:ext cx="3291840" cy="653288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724912"/>
            <a:ext cx="307238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2F0EA"/>
                </a:solidFill>
                <a:latin typeface="Calibri"/>
              </a:rPr>
              <a:t>Specialists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2596896"/>
            <a:ext cx="3931920" cy="653288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04488" y="2724912"/>
            <a:ext cx="371246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2F0EA"/>
                </a:solidFill>
                <a:latin typeface="Calibri"/>
              </a:rPr>
              <a:t>12 in-process (same names)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80" y="2596896"/>
            <a:ext cx="3931920" cy="653288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2724912"/>
            <a:ext cx="371246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2F0EA"/>
                </a:solidFill>
                <a:latin typeface="Calibri"/>
              </a:rPr>
              <a:t>12 Go subagent processes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55264"/>
            <a:ext cx="3291840" cy="653288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3383280"/>
            <a:ext cx="307238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2F0EA"/>
                </a:solidFill>
                <a:latin typeface="Calibri"/>
              </a:rPr>
              <a:t>Memory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4760" y="3255264"/>
            <a:ext cx="3931920" cy="653288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04488" y="3383280"/>
            <a:ext cx="371246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2F0EA"/>
                </a:solidFill>
                <a:latin typeface="Calibri"/>
              </a:rPr>
              <a:t>Shared chats + user_memory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80" y="3255264"/>
            <a:ext cx="3931920" cy="653288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6408" y="3383280"/>
            <a:ext cx="371246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2F0EA"/>
                </a:solidFill>
                <a:latin typeface="Calibri"/>
              </a:rPr>
              <a:t>Shared chats + Go memory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913632"/>
            <a:ext cx="3291840" cy="653288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4041648"/>
            <a:ext cx="307238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2F0EA"/>
                </a:solidFill>
                <a:latin typeface="Calibri"/>
              </a:rPr>
              <a:t>Spend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94760" y="3913632"/>
            <a:ext cx="3931920" cy="653288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04488" y="4041648"/>
            <a:ext cx="371246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2F0EA"/>
                </a:solidFill>
                <a:latin typeface="Calibri"/>
              </a:rPr>
              <a:t>Same gates when billing 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26680" y="3913632"/>
            <a:ext cx="3931920" cy="653288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36408" y="4041648"/>
            <a:ext cx="371246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2F0EA"/>
                </a:solidFill>
                <a:latin typeface="Calibri"/>
              </a:rPr>
              <a:t>Enforced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572000"/>
            <a:ext cx="3291840" cy="653288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" y="4700016"/>
            <a:ext cx="307238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2F0EA"/>
                </a:solidFill>
                <a:latin typeface="Calibri"/>
              </a:rPr>
              <a:t>Web research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94760" y="4572000"/>
            <a:ext cx="3931920" cy="653288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04488" y="4700016"/>
            <a:ext cx="371246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47A4A"/>
                </a:solidFill>
                <a:latin typeface="Calibri"/>
              </a:rPr>
              <a:t>search_online 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26680" y="4572000"/>
            <a:ext cx="3931920" cy="653288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36408" y="4700016"/>
            <a:ext cx="371246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47A4A"/>
                </a:solidFill>
                <a:latin typeface="Calibri"/>
              </a:rPr>
              <a:t>Full scrape/crawl suite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230368"/>
            <a:ext cx="3291840" cy="653288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" y="5358384"/>
            <a:ext cx="307238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2F0EA"/>
                </a:solidFill>
                <a:latin typeface="Calibri"/>
              </a:rPr>
              <a:t>Env writes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94760" y="5230368"/>
            <a:ext cx="3931920" cy="653288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04488" y="5358384"/>
            <a:ext cx="371246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47A4A"/>
                </a:solidFill>
                <a:latin typeface="Calibri"/>
              </a:rPr>
              <a:t>set_environment_variables withheld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26680" y="5230368"/>
            <a:ext cx="3931920" cy="653288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36408" y="5358384"/>
            <a:ext cx="371246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47A4A"/>
                </a:solidFill>
                <a:latin typeface="Calibri"/>
              </a:rPr>
              <a:t>Available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98932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Deliberate gaps: scrape/crawl suite unported · set_environment_variables withheld (secret-adjacent)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Pros &amp; cons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3D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5486400" cy="49377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53896"/>
            <a:ext cx="5157216" cy="4681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Pros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Data residency &amp; air-gap readiness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No cloud copilot relay dependency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BYO keys / models + spend caps when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billing is on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Shared chat history across backends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Full audit on standalone path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One less network hop (app → provider)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325880"/>
            <a:ext cx="5486400" cy="49377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453896"/>
            <a:ext cx="5157216" cy="4681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Cons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Capability gap — scrape/crawl suite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unported; env writes withheld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Parity drift — Go features land first,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Local ports deliberately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Ops ownership — keys, allowlist,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migrations, Next.js scale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• No auto-failover for local_only users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  when the provider is down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CODE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Key files for engineering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55680" cy="621792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apps/sim/local-copilot/lib/routing.ts</a:t>
            </a:r>
          </a:p>
          <a:p>
            <a:pPr algn="l"/>
            <a:r>
              <a:rPr sz="1000" b="0">
                <a:solidFill>
                  <a:srgbClr val="A8AFB8"/>
                </a:solidFill>
                <a:latin typeface="Calibri"/>
              </a:rPr>
              <a:t>shouldRouteToLocalCopilot — single control 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65376"/>
            <a:ext cx="11155680" cy="621792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apps/sim/local-copilot/integration/mothership-lifecycle.ts</a:t>
            </a:r>
          </a:p>
          <a:p>
            <a:pPr algn="l"/>
            <a:r>
              <a:rPr sz="1000" b="0">
                <a:solidFill>
                  <a:srgbClr val="A8AFB8"/>
                </a:solidFill>
                <a:latin typeface="Calibri"/>
              </a:rPr>
              <a:t>Bridge into mothership chat lifecycle + SSE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23744"/>
            <a:ext cx="11155680" cy="621792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apps/sim/local-copilot/lib/agent/orchestrator.ts</a:t>
            </a:r>
          </a:p>
          <a:p>
            <a:pPr algn="l"/>
            <a:r>
              <a:rPr sz="1000" b="0">
                <a:solidFill>
                  <a:srgbClr val="A8AFB8"/>
                </a:solidFill>
                <a:latin typeface="Calibri"/>
              </a:rPr>
              <a:t>System prompt, tool loop ≤20, specialists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82112"/>
            <a:ext cx="11155680" cy="621792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36976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apps/sim/local-copilot/lib/agent/specialists/*</a:t>
            </a:r>
          </a:p>
          <a:p>
            <a:pPr algn="l"/>
            <a:r>
              <a:rPr sz="1000" b="0">
                <a:solidFill>
                  <a:srgbClr val="A8AFB8"/>
                </a:solidFill>
                <a:latin typeface="Calibri"/>
              </a:rPr>
              <a:t>classify, domains, budget, specialist-pass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40480"/>
            <a:ext cx="11155680" cy="621792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95344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apps/sim/local-copilot/lib/context/*</a:t>
            </a:r>
          </a:p>
          <a:p>
            <a:pPr algn="l"/>
            <a:r>
              <a:rPr sz="1000" b="0">
                <a:solidFill>
                  <a:srgbClr val="A8AFB8"/>
                </a:solidFill>
                <a:latin typeface="Calibri"/>
              </a:rPr>
              <a:t>budget, session-memory, promote-durable-memory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98848"/>
            <a:ext cx="11155680" cy="621792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53712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apps/sim/local-copilot/lib/security/*</a:t>
            </a:r>
          </a:p>
          <a:p>
            <a:pPr algn="l"/>
            <a:r>
              <a:rPr sz="1000" b="0">
                <a:solidFill>
                  <a:srgbClr val="A8AFB8"/>
                </a:solidFill>
                <a:latin typeface="Calibri"/>
              </a:rPr>
              <a:t>sanitize / confirmation helpers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157216"/>
            <a:ext cx="11155680" cy="621792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212080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apps/sim/local-copilot/lib/access.ts</a:t>
            </a:r>
          </a:p>
          <a:p>
            <a:pPr algn="l"/>
            <a:r>
              <a:rPr sz="1000" b="0">
                <a:solidFill>
                  <a:srgbClr val="A8AFB8"/>
                </a:solidFill>
                <a:latin typeface="Calibri"/>
              </a:rPr>
              <a:t>allowlist / has_access / local_only helpers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15584"/>
            <a:ext cx="11155680" cy="621792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870448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apps/sim/local-copilot/lib/tools/*</a:t>
            </a:r>
          </a:p>
          <a:p>
            <a:pPr algn="l"/>
            <a:r>
              <a:rPr sz="1000" b="0">
                <a:solidFill>
                  <a:srgbClr val="A8AFB8"/>
                </a:solidFill>
                <a:latin typeface="Calibri"/>
              </a:rPr>
              <a:t>delegated defs, executor, format-tool-result, reuse guards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8A83A"/>
                </a:solidFill>
                <a:latin typeface="Calibri"/>
              </a:rPr>
              <a:t>AUG FOLLOW-ONS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2F0EA"/>
                </a:solidFill>
                <a:latin typeface="Calibri"/>
              </a:rPr>
              <a:t>Recent modules to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256032"/>
            <a:ext cx="502920" cy="310896"/>
          </a:xfrm>
          <a:prstGeom prst="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2F0EA"/>
                </a:solidFill>
                <a:latin typeface="Calibri"/>
              </a:rPr>
              <a:t>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440680" cy="21945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99616"/>
            <a:ext cx="5111496" cy="19385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format-tool-result.ts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8k hard-cap on LLM-bound tool JSON;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overflow → artifacts + load path.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5440680" cy="21945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499616"/>
            <a:ext cx="5111496" cy="19385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promote-durable-memory.ts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Session → user_memory candidates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(prefs / corrections / entities).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840480"/>
            <a:ext cx="5440680" cy="21945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968496"/>
            <a:ext cx="5111496" cy="19385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8A83A"/>
                </a:solidFill>
                <a:latin typeface="Calibri"/>
              </a:rPr>
              <a:t>reuse-existing-guards.ts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Soft-block duplicate creates when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workspace already has a match.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840480"/>
            <a:ext cx="5440680" cy="219456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3968496"/>
            <a:ext cx="5111496" cy="19385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E293B"/>
                </a:solidFill>
                <a:latin typeface="Inter"/>
              </a:rPr>
              <a:t>Session memory inspector</a:t>
            </a:r>
          </a:p>
          <a:p>
            <a:r>
              <a:rPr sz="1200" b="0">
                <a:solidFill>
                  <a:srgbClr val="1E293B"/>
                </a:solidFill>
                <a:latin typeface="Inter"/>
              </a:rPr>
              <a:t>GET /api/local-copilot/session-memory</a:t>
            </a:r>
          </a:p>
          <a:p>
            <a:r>
              <a:rPr sz="1200" b="0">
                <a:solidFill>
                  <a:srgbClr val="1E293B"/>
                </a:solidFill>
                <a:latin typeface="Inter"/>
              </a:rPr>
              <a:t>+ SessionMemoryInspector UI.</a:t>
            </a:r>
          </a:p>
          <a:p>
            <a:r>
              <a:rPr sz="1200" b="0">
                <a:solidFill>
                  <a:srgbClr val="1E293B"/>
                </a:solidFill>
                <a:latin typeface="Inter"/>
              </a:rPr>
              <a:t>Keys off mothership chatId</a:t>
            </a:r>
          </a:p>
          <a:p>
            <a:r>
              <a:rPr sz="1200" b="0">
                <a:solidFill>
                  <a:srgbClr val="1E293B"/>
                </a:solidFill>
                <a:latin typeface="Inter"/>
              </a:rPr>
              <a:t>(copilot_chats). Standalone</a:t>
            </a:r>
          </a:p>
          <a:p>
            <a:r>
              <a:rPr sz="1200" b="0">
                <a:solidFill>
                  <a:srgbClr val="1E293B"/>
                </a:solidFill>
                <a:latin typeface="Inter"/>
              </a:rPr>
              <a:t>local conversation IDs → null.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2F0EA"/>
                </a:solidFill>
                <a:latin typeface="Calibri"/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2194560" cy="12700"/>
          </a:xfrm>
          <a:prstGeom prst="rect">
            <a:avLst/>
          </a:prstGeom>
          <a:solidFill>
            <a:srgbClr val="8A6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7552" y="2487168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395728"/>
            <a:ext cx="963777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Migrate 0248–0251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Core tables, allowlist, auto-provision, local_only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27248"/>
            <a:ext cx="10515600" cy="7772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7552" y="3328416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3236976"/>
            <a:ext cx="963777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Env + keys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COPILOT_ENABLED, provider, model, API keys in apps/sim/.env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968496"/>
            <a:ext cx="10515600" cy="7772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7552" y="4169664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4078224"/>
            <a:ext cx="963777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Pilot allowlist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UPDATE local_copilot_user_access SET has_access = true 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09744"/>
            <a:ext cx="10515600" cy="7772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87552" y="5010912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4919472"/>
            <a:ext cx="963777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2F0EA"/>
                </a:solidFill>
                <a:latin typeface="Calibri"/>
              </a:rPr>
              <a:t>Verify config</a:t>
            </a:r>
          </a:p>
          <a:p>
            <a:pPr algn="l"/>
            <a:r>
              <a:rPr sz="1200" b="0">
                <a:solidFill>
                  <a:srgbClr val="A8AFB8"/>
                </a:solidFill>
                <a:latin typeface="Calibri"/>
              </a:rPr>
              <a:t>GET /api/local-copilot/config → enabled + canSwitchBackend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650992"/>
            <a:ext cx="10515600" cy="777240"/>
          </a:xfrm>
          <a:prstGeom prst="rect">
            <a:avLst/>
          </a:prstGeom>
          <a:solidFill>
            <a:srgbClr val="1E2228"/>
          </a:solidFill>
          <a:ln>
            <a:solidFill>
              <a:srgbClr val="3A4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7552" y="5852160"/>
            <a:ext cx="384048" cy="38404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5760720"/>
            <a:ext cx="963777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Expand + known gaps</a:t>
            </a:r>
          </a:p>
          <a:p>
            <a:r>
              <a:rPr sz="1300" b="0">
                <a:solidFill>
                  <a:srgbClr val="1E293B"/>
                </a:solidFill>
                <a:latin typeface="Inter"/>
              </a:rPr>
              <a:t>Broader allowlist; optional local_only. Later: session memory on standalone local_copilot_* chats.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