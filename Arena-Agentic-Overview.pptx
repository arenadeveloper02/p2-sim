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11827"/>
                </a:solidFill>
                <a:latin typeface="Calibri"/>
              </a:rPr>
              <a:t>Arena Agentic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6B7280"/>
                </a:solidFill>
                <a:latin typeface="Calibri"/>
              </a:rPr>
              <a:t>What makes us unique vs automation &amp; AI workflow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Calibri"/>
              </a:rPr>
              <a:t>Not a better Zapier. An agent operating system with product surfaces
for growth, client health, and marketing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D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Agent workspace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45720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8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11827"/>
                </a:solidFill>
                <a:latin typeface="Calibri"/>
              </a:rPr>
              <a:t>vs n8n · Zapier · Workato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45720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8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11827"/>
                </a:solidFill>
                <a:latin typeface="Calibri"/>
              </a:rPr>
              <a:t>Activepieces · Gumloop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UNIQUENESS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The category advantage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B7280"/>
                </a:solidFill>
                <a:latin typeface="Calibri"/>
              </a:rPr>
              <a:t>Others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Calibri"/>
              </a:rPr>
              <a:t>App automation / iPaaS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▸ </a:t>
            </a:r>
            <a:r>
              <a:rPr sz="1400" b="0">
                <a:solidFill>
                  <a:srgbClr val="111827"/>
                </a:solidFill>
                <a:latin typeface="Calibri"/>
              </a:rPr>
              <a:t>Trigger → fixed action chains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▸ </a:t>
            </a:r>
            <a:r>
              <a:rPr sz="1400" b="0">
                <a:solidFill>
                  <a:srgbClr val="111827"/>
                </a:solidFill>
                <a:latin typeface="Calibri"/>
              </a:rPr>
              <a:t>Win on connector catalog size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▸ </a:t>
            </a:r>
            <a:r>
              <a:rPr sz="1400" b="0">
                <a:solidFill>
                  <a:srgbClr val="111827"/>
                </a:solidFill>
                <a:latin typeface="Calibri"/>
              </a:rPr>
              <a:t>AI bolted onto classic automation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▸ </a:t>
            </a:r>
            <a:r>
              <a:rPr sz="1400" b="0">
                <a:solidFill>
                  <a:srgbClr val="111827"/>
                </a:solidFill>
                <a:latin typeface="Calibri"/>
              </a:rPr>
              <a:t>Workflow builder = the product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▸ </a:t>
            </a:r>
            <a:r>
              <a:rPr sz="1400" b="0">
                <a:solidFill>
                  <a:srgbClr val="111827"/>
                </a:solidFill>
                <a:latin typeface="Calibri"/>
              </a:rPr>
              <a:t>Account health &amp; BI left to other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47548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9F6E"/>
                </a:solidFill>
                <a:latin typeface="Calibri"/>
              </a:rPr>
              <a:t>Arena Agentic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Calibri"/>
              </a:rPr>
              <a:t>Agent operating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78892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D9F6E"/>
                </a:solidFill>
                <a:latin typeface="Calibri"/>
              </a:rPr>
              <a:t>▸ </a:t>
            </a:r>
            <a:r>
              <a:rPr sz="1400" b="0">
                <a:solidFill>
                  <a:srgbClr val="111827"/>
                </a:solidFill>
                <a:latin typeface="Calibri"/>
              </a:rPr>
              <a:t>Agents choose tools, routes, humans-in-loop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D9F6E"/>
                </a:solidFill>
                <a:latin typeface="Calibri"/>
              </a:rPr>
              <a:t>▸ </a:t>
            </a:r>
            <a:r>
              <a:rPr sz="1400" b="0">
                <a:solidFill>
                  <a:srgbClr val="111827"/>
                </a:solidFill>
                <a:latin typeface="Calibri"/>
              </a:rPr>
              <a:t>Win on grounded production agents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D9F6E"/>
                </a:solidFill>
                <a:latin typeface="Calibri"/>
              </a:rPr>
              <a:t>▸ </a:t>
            </a:r>
            <a:r>
              <a:rPr sz="1400" b="0">
                <a:solidFill>
                  <a:srgbClr val="111827"/>
                </a:solidFill>
                <a:latin typeface="Calibri"/>
              </a:rPr>
              <a:t>AI-native: Copilot, RAG, memory in-core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D9F6E"/>
                </a:solidFill>
                <a:latin typeface="Calibri"/>
              </a:rPr>
              <a:t>▸ </a:t>
            </a:r>
            <a:r>
              <a:rPr sz="1400" b="0">
                <a:solidFill>
                  <a:srgbClr val="111827"/>
                </a:solidFill>
                <a:latin typeface="Calibri"/>
              </a:rPr>
              <a:t>Workflows + product UIs (health, BI, Highlights)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D9F6E"/>
                </a:solidFill>
                <a:latin typeface="Calibri"/>
              </a:rPr>
              <a:t>▸ </a:t>
            </a:r>
            <a:r>
              <a:rPr sz="1400" b="0">
                <a:solidFill>
                  <a:srgbClr val="111827"/>
                </a:solidFill>
                <a:latin typeface="Calibri"/>
              </a:rPr>
              <a:t>Growth / client / marketing outcomes built-in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UNIQUENESS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Calibri"/>
              </a:rPr>
              <a:t>Seven things peers struggle to match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9F6E"/>
                </a:solidFill>
                <a:latin typeface="Calibri"/>
              </a:rPr>
              <a:t>1  AI workspace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7160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Agents + knowledge + tables + files + schedules in one surface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47672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8483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9F6E"/>
                </a:solidFill>
                <a:latin typeface="Calibri"/>
              </a:rPr>
              <a:t>2  Live multiplayer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084831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Figma-style cursors &amp; synced edits — most automation tools are single-player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660904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9806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9F6E"/>
                </a:solidFill>
                <a:latin typeface="Calibri"/>
              </a:rPr>
              <a:t>3  Product surfaces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798064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Client Intelligence · Calibrate · Highlights — not just a canvas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374136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1129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9F6E"/>
                </a:solidFill>
                <a:latin typeface="Calibri"/>
              </a:rPr>
              <a:t>4  Workspace 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511296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Local/Cloud agent that operates workflows, KB, tables — not “scaffold a zap”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087368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245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9F6E"/>
                </a:solidFill>
                <a:latin typeface="Calibri"/>
              </a:rPr>
              <a:t>5  Dual MCP + A2A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224528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Call external MCP tools and publish workflows as MCP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800600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37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9F6E"/>
                </a:solidFill>
                <a:latin typeface="Calibri"/>
              </a:rPr>
              <a:t>6  Durable HITL + promote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93776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Approval snapshots that resume; workspace fork/promote with credential remap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513831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509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9F6E"/>
                </a:solidFill>
                <a:latin typeface="Calibri"/>
              </a:rPr>
              <a:t>7  Vertical closed loops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650992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Ads · LinkedIn · SEO · Slides · Figma · Arena PM — insight → action in-platform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VS PEERS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Calibri"/>
              </a:rPr>
              <a:t>Where Arena Agentic pulls ahead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11155680" cy="438912"/>
          </a:xfrm>
          <a:prstGeom prst="roundRect">
            <a:avLst>
              <a:gd name="adj" fmla="val 8000"/>
            </a:avLst>
          </a:prstGeom>
          <a:solidFill>
            <a:srgbClr val="E8EAE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353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Calibri"/>
              </a:rPr>
              <a:t>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3512" y="13533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Calibri"/>
              </a:rPr>
              <a:t>Zapier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5112" y="13533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Calibri"/>
              </a:rPr>
              <a:t>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96712" y="13533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Calibri"/>
              </a:rPr>
              <a:t>Workato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68312" y="1353312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Calibri"/>
              </a:rPr>
              <a:t>Activepieces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2792" y="13533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Calibri"/>
              </a:rPr>
              <a:t>Gumloop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1353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Arena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82880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1827"/>
                </a:solidFill>
                <a:latin typeface="Calibri"/>
              </a:rPr>
              <a:t>Agent workspace (KB/tables)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1920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1920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D97706"/>
                </a:solidFill>
                <a:latin typeface="Calibri"/>
              </a:rPr>
              <a:t>~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1920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D97706"/>
                </a:solidFill>
                <a:latin typeface="Calibri"/>
              </a:rPr>
              <a:t>~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192024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1920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D97706"/>
                </a:solidFill>
                <a:latin typeface="Calibri"/>
              </a:rPr>
              <a:t>~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94392" y="1920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37744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1827"/>
                </a:solidFill>
                <a:latin typeface="Calibri"/>
              </a:rPr>
              <a:t>Live multiplayer canvas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3512" y="24688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24688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96712" y="24688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8312" y="246888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22792" y="24688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4392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92608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1827"/>
                </a:solidFill>
                <a:latin typeface="Calibri"/>
              </a:rPr>
              <a:t>Client health / BI product UIs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53512" y="3017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5112" y="3017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96712" y="3017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D97706"/>
                </a:solidFill>
                <a:latin typeface="Calibri"/>
              </a:rPr>
              <a:t>~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2" y="301752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2792" y="3017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94392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47472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1827"/>
                </a:solidFill>
                <a:latin typeface="Calibri"/>
              </a:rPr>
              <a:t>Workspace-acting Copilot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53512" y="3566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D97706"/>
                </a:solidFill>
                <a:latin typeface="Calibri"/>
              </a:rPr>
              <a:t>~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5112" y="3566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D97706"/>
                </a:solidFill>
                <a:latin typeface="Calibri"/>
              </a:rPr>
              <a:t>~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96712" y="3566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D97706"/>
                </a:solidFill>
                <a:latin typeface="Calibri"/>
              </a:rPr>
              <a:t>~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68312" y="356616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D97706"/>
                </a:solidFill>
                <a:latin typeface="Calibri"/>
              </a:rPr>
              <a:t>~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22792" y="3566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D97706"/>
                </a:solidFill>
                <a:latin typeface="Calibri"/>
              </a:rPr>
              <a:t>~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94392" y="3566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02336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1827"/>
                </a:solidFill>
                <a:latin typeface="Calibri"/>
              </a:rPr>
              <a:t>Dual MCP (client + publish)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53512" y="4114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25112" y="4114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D97706"/>
                </a:solidFill>
                <a:latin typeface="Calibri"/>
              </a:rPr>
              <a:t>~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96712" y="4114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D97706"/>
                </a:solidFill>
                <a:latin typeface="Calibri"/>
              </a:rPr>
              <a:t>~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68312" y="411480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22792" y="4114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94392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457200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1827"/>
                </a:solidFill>
                <a:latin typeface="Calibri"/>
              </a:rPr>
              <a:t>Durable HITL + fork/promote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53512" y="4663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D97706"/>
                </a:solidFill>
                <a:latin typeface="Calibri"/>
              </a:rPr>
              <a:t>~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25112" y="4663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D97706"/>
                </a:solidFill>
                <a:latin typeface="Calibri"/>
              </a:rPr>
              <a:t>~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96712" y="4663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68312" y="466344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D97706"/>
                </a:solidFill>
                <a:latin typeface="Calibri"/>
              </a:rPr>
              <a:t>~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22792" y="4663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D97706"/>
                </a:solidFill>
                <a:latin typeface="Calibri"/>
              </a:rPr>
              <a:t>~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94392" y="4663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2920" y="512064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6072" y="52120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1827"/>
                </a:solidFill>
                <a:latin typeface="Calibri"/>
              </a:rPr>
              <a:t>Self-host / air-gap Copilot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53512" y="521207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25112" y="521207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96712" y="521207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68312" y="5212079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22792" y="521207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94392" y="52120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2920" y="566928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6072" y="5760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1827"/>
                </a:solidFill>
                <a:latin typeface="Calibri"/>
              </a:rPr>
              <a:t>Design→code + branded decks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53512" y="5760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25112" y="5760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96712" y="5760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68312" y="576072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22792" y="5760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D97706"/>
                </a:solidFill>
                <a:latin typeface="Calibri"/>
              </a:rPr>
              <a:t>~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94392" y="5760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 = strong  ·  ~ = partial  ·  — = weak/absent  (directional)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VS PEERS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Calibri"/>
              </a:rPr>
              <a:t>How we win against each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9F6E"/>
                </a:solidFill>
                <a:latin typeface="Calibri"/>
              </a:rPr>
              <a:t>vs Zapier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SMB ease &amp;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Agent OS + Client Intelligence + Calibrate + self-host — higher ACV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4028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9F6E"/>
                </a:solidFill>
                <a:latin typeface="Calibri"/>
              </a:rPr>
              <a:t>vs n8n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OSS automation gravity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Product surfaces + multiplayer + vertical packs — not DIY LLM nodes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0040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9F6E"/>
                </a:solidFill>
                <a:latin typeface="Calibri"/>
              </a:rPr>
              <a:t>vs Workato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429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F500 iPaaS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429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Open/self-host + live multiplayer + dual MCP at lower TCO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6052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9F6E"/>
                </a:solidFill>
                <a:latin typeface="Calibri"/>
              </a:rPr>
              <a:t>vs Activepieces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389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OSS Zapier alternative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Agent workspace depth + persona Highlights + account health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12064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9F6E"/>
                </a:solidFill>
                <a:latin typeface="Calibri"/>
              </a:rPr>
              <a:t>vs Gumloop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349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Polished AI flow 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349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Self-host, HITL, promote, Client Intelligence, Calibrate, Figma/Slides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UNIQUE 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Calibri"/>
              </a:rPr>
              <a:t>Where peers stop at workflows — we ship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10972800" cy="14173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91440" cy="14173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91B2"/>
                </a:solidFill>
                <a:latin typeface="Calibri"/>
              </a:rPr>
              <a:t>Client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11827"/>
                </a:solidFill>
                <a:latin typeface="Calibri"/>
              </a:rPr>
              <a:t>Zoom + Slack + Gmail → live account health, delivery, SOW &amp; risk — no manual 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926080"/>
            <a:ext cx="10972800" cy="14173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926080"/>
            <a:ext cx="91440" cy="14173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00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DB2777"/>
                </a:solidFill>
                <a:latin typeface="Calibri"/>
              </a:rPr>
              <a:t>Arena Calibrate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03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11827"/>
                </a:solidFill>
                <a:latin typeface="Calibri"/>
              </a:rPr>
              <a:t>Marketing BI dashboards — cross-platform reporting agents and Ads feed into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526280"/>
            <a:ext cx="10972800" cy="14173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4526280"/>
            <a:ext cx="91440" cy="1417320"/>
          </a:xfrm>
          <a:prstGeom prst="rect">
            <a:avLst/>
          </a:prstGeom>
          <a:solidFill>
            <a:srgbClr val="0D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00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9F6E"/>
                </a:solidFill>
                <a:latin typeface="Calibri"/>
              </a:rPr>
              <a:t>Highlights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11827"/>
                </a:solidFill>
                <a:latin typeface="Calibri"/>
              </a:rPr>
              <a:t>Signal → Insight → Action — persona-aware daily briefing (CEO / PM / Engineer)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UNIQUE 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Calibri"/>
              </a:rPr>
              <a:t>Client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77724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DIFFERENTIATOR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Live structured view per client from real interactions — not a CRM status field.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91440" cy="17373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891B2"/>
                </a:solidFill>
                <a:latin typeface="Calibri"/>
              </a:rPr>
              <a:t>Zoom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Calibri"/>
              </a:rPr>
              <a:t>Cadence, sentiment, notes → relationship health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91640"/>
            <a:ext cx="91440" cy="173736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7451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A66C2"/>
                </a:solidFill>
                <a:latin typeface="Calibri"/>
              </a:rPr>
              <a:t>Slack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317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Calibri"/>
              </a:rPr>
              <a:t>Response times, escalations, tone → risk flags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69164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1691640"/>
            <a:ext cx="91440" cy="17373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87451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A580C"/>
                </a:solidFill>
                <a:latin typeface="Calibri"/>
              </a:rPr>
              <a:t>Gmail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3317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Calibri"/>
              </a:rPr>
              <a:t>Threads, commitments → actions &amp; SOW tracking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0332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233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891B2"/>
                </a:solidFill>
                <a:latin typeface="Calibri"/>
              </a:rPr>
              <a:t>Executive Summary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370332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40233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891B2"/>
                </a:solidFill>
                <a:latin typeface="Calibri"/>
              </a:rPr>
              <a:t>Overall Client Health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70332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0233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891B2"/>
                </a:solidFill>
                <a:latin typeface="Calibri"/>
              </a:rPr>
              <a:t>What's Been Delivered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370332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19" y="40233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891B2"/>
                </a:solidFill>
                <a:latin typeface="Calibri"/>
              </a:rPr>
              <a:t>What's Coming Next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93776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257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891B2"/>
                </a:solidFill>
                <a:latin typeface="Calibri"/>
              </a:rPr>
              <a:t>How We're Delivering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493776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5257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891B2"/>
                </a:solidFill>
                <a:latin typeface="Calibri"/>
              </a:rPr>
              <a:t>Project 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493776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5257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891B2"/>
                </a:solidFill>
                <a:latin typeface="Calibri"/>
              </a:rPr>
              <a:t>SOW Compliance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493776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19" y="5257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891B2"/>
                </a:solidFill>
                <a:latin typeface="Calibri"/>
              </a:rPr>
              <a:t>Risk Factors (pre-churn)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UNIQUE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Calibri"/>
              </a:rPr>
              <a:t>Vertical closed loops peers treat as DIY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5577840" cy="14630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91440" cy="1463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A580C"/>
                </a:solidFill>
                <a:latin typeface="Calibri"/>
              </a:rPr>
              <a:t>Google + Facebook 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Calibri"/>
              </a:rPr>
              <a:t>Campaign intel, NL query, GAQL, reports — marketers operate in-graph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280160"/>
            <a:ext cx="5577840" cy="14630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280160"/>
            <a:ext cx="91440" cy="14630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A8A04"/>
                </a:solidFill>
                <a:latin typeface="Calibri"/>
              </a:rPr>
              <a:t>Position2 Slides Generator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65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Calibri"/>
              </a:rPr>
              <a:t>Topic → branded Google Slides on master template (schema + merge)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926080"/>
            <a:ext cx="5577840" cy="14630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926080"/>
            <a:ext cx="91440" cy="1463040"/>
          </a:xfrm>
          <a:prstGeom prst="rect">
            <a:avLst/>
          </a:prstGeom>
          <a:solidFill>
            <a:srgbClr val="F24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4E1E"/>
                </a:solidFill>
                <a:latin typeface="Calibri"/>
              </a:rPr>
              <a:t>Figma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Calibri"/>
              </a:rPr>
              <a:t>AI generate designs, convert to HTML, files/comments — design→code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926080"/>
            <a:ext cx="5577840" cy="14630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926080"/>
            <a:ext cx="91440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C3AED"/>
                </a:solidFill>
                <a:latin typeface="Calibri"/>
              </a:rPr>
              <a:t>Arena PM block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611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Calibri"/>
              </a:rPr>
              <a:t>Tasks, comments, search, meetings — insight → work item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572000"/>
            <a:ext cx="5577840" cy="14630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572000"/>
            <a:ext cx="91440" cy="146304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66C2"/>
                </a:solidFill>
                <a:latin typeface="Calibri"/>
              </a:rPr>
              <a:t>Unipile LinkedIn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Calibri"/>
              </a:rPr>
              <a:t>Profiles, posts, search, messaging — growth agents that 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572000"/>
            <a:ext cx="5577840" cy="14630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572000"/>
            <a:ext cx="91440" cy="1463040"/>
          </a:xfrm>
          <a:prstGeom prst="rect">
            <a:avLst/>
          </a:prstGeom>
          <a:solidFill>
            <a:srgbClr val="FF6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226"/>
                </a:solidFill>
                <a:latin typeface="Calibri"/>
              </a:rPr>
              <a:t>Semrush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257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Calibri"/>
              </a:rPr>
              <a:t>Keywords, competitors, domain rank, position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UNIQUE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Calibri"/>
              </a:rPr>
              <a:t>Platform depth that compounds uniqueness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91440" cy="4846320"/>
          </a:xfrm>
          <a:prstGeom prst="rect">
            <a:avLst/>
          </a:prstGeom>
          <a:solidFill>
            <a:srgbClr val="0D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9F6E"/>
                </a:solidFill>
                <a:latin typeface="Calibri"/>
              </a:rPr>
              <a:t>Local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D9F6E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Air-gapped in-process Copilot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D9F6E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Specialists + patches + Local/Cloud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D9F6E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Prompt caching · live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91440" cy="4846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Calibri"/>
              </a:rPr>
              <a:t>Development 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945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Generate/edit Next.js apps from NL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emailId iframe gate for embeds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GitHub + Vercel + Neon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37160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371600"/>
            <a:ext cx="91440" cy="4846320"/>
          </a:xfrm>
          <a:prstGeom prst="rect">
            <a:avLst/>
          </a:prstGeom>
          <a:solidFill>
            <a:srgbClr val="0D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9F6E"/>
                </a:solidFill>
                <a:latin typeface="Calibri"/>
              </a:rPr>
              <a:t>Agent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945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D9F6E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Hybrid RAG + continuous connectors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D9F6E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Durable HITL pause/resume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D9F6E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Dual MCP + A2A + multiplayer canvas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Calibri"/>
              </a:rPr>
              <a:t>Why this wins deals vs peers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9F6E"/>
                </a:solidFill>
                <a:latin typeface="Calibri"/>
              </a:rPr>
              <a:t>Structural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D9F6E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Category: agent OS vs zap/iPaaS → higher ACV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D9F6E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Product UIs: Client Intelligence + Calibrate + Highlights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D9F6E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Live multiplayer → team stickiness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D9F6E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Shared memory raises switching cost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D9F6E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Dual MCP / HITL / fork-promote for production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D9F6E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Self-host + Local Copilot for regulated buyers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212080" cy="49377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9F6E"/>
                </a:solidFill>
                <a:latin typeface="Calibri"/>
              </a:rPr>
              <a:t>Vertical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D9F6E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Ads + Semrush + LinkedIn in one graph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D9F6E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Branded Slides + Figma design→code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D9F6E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Arena PM closes insight → task loop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D9F6E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Development ships apps from agents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D9F6E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Wider ICP: ops + marketing + PM + eng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HONEST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Calibri"/>
              </a:rPr>
              <a:t>Gaps to own vs peers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97706"/>
                </a:solidFill>
                <a:latin typeface="Calibri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Smaller connector catalog than Zapier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Peers catching up on basic agent nodes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Product surfaces must stay demoable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Eval suite thinner than dedicated LLMOps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Broad surface area to polish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212080" cy="49377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97706"/>
                </a:solidFill>
                <a:latin typeface="Calibri"/>
              </a:rP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Younger brand vs Zapier / n8n / Workato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Crowded “AI agents” narrative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Must sell uniqueness — not connector count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Self-host can slow cloud conversion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▸ </a:t>
            </a:r>
            <a:r>
              <a:rPr sz="1300" b="0">
                <a:solidFill>
                  <a:srgbClr val="111827"/>
                </a:solidFill>
                <a:latin typeface="Calibri"/>
              </a:rPr>
              <a:t>Enterprise cycles favor F500 logos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F6E"/>
                </a:solidFill>
                <a:latin typeface="Calibri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9F6E"/>
                </a:solidFill>
                <a:latin typeface="Calibri"/>
              </a:rPr>
              <a:t>Net uniqueness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Calibri"/>
              </a:rPr>
              <a:t>Peers automate apps.
Arena Agentic is an agent operating system with product surfaces for client health, marketing BI, and growth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291840"/>
            <a:ext cx="10972800" cy="23774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11827"/>
                </a:solidFill>
                <a:latin typeface="Calibri"/>
              </a:rPr>
              <a:t>Lead with: category → structural edges → product surfaces (Client Intelligence · Calibrate · Highlights) → vertical loops (Ads · Slides · Figma · LinkedIn · SEO · Arena PM) → Local Copilot / Development.
Lead with why buyers pick Arena over Zapier, n8n, Workato, Activepieces, or Gumloop.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Uniqueness = agent OS + outcome product surfaces + vertical closed loops.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