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"/>
          <p:cNvSpPr/>
          <p:nvPr/>
        </p:nvSpPr>
        <p:spPr>
          <a:xfrm>
            <a:off x="411480" y="1400000"/>
            <a:ext cx="8321040" cy="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 Copilot</a:t>
            </a:r>
          </a:p>
        </p:txBody>
      </p:sp>
      <p:sp>
        <p:nvSpPr>
          <p:cNvPr id="5" name="Text"/>
          <p:cNvSpPr/>
          <p:nvPr/>
        </p:nvSpPr>
        <p:spPr>
          <a:xfrm>
            <a:off x="411480" y="1950000"/>
            <a:ext cx="832104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Architecture · session memory · cache · Waves 1–6 · Local vs Mothership</a:t>
            </a:r>
          </a:p>
        </p:txBody>
      </p:sp>
      <p:sp>
        <p:nvSpPr>
          <p:cNvPr id="6" name="Text"/>
          <p:cNvSpPr/>
          <p:nvPr/>
        </p:nvSpPr>
        <p:spPr>
          <a:xfrm>
            <a:off x="411480" y="2400000"/>
            <a:ext cx="832104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In-process Arena agent · session memory · prompt cache · Waves 1–6 reliability</a:t>
            </a:r>
          </a:p>
        </p:txBody>
      </p:sp>
      <p:sp>
        <p:nvSpPr>
          <p:cNvPr id="7" name="Text"/>
          <p:cNvSpPr/>
          <p:nvPr/>
        </p:nvSpPr>
        <p:spPr>
          <a:xfrm>
            <a:off x="411480" y="4200000"/>
            <a:ext cx="832104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apps/sim/local-copilot  ·  Aug 6 2026  ·  Hybrid eng + leadership deck</a:t>
            </a:r>
          </a:p>
        </p:txBody>
      </p:sp>
      <p:sp>
        <p:nvSpPr>
          <p:cNvPr id="8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Architecture — end-to-end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One chat pipeline, two backends (server-side fork)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</a:t>
            </a:r>
          </a:p>
        </p:txBody>
      </p:sp>
      <p:sp>
        <p:nvSpPr>
          <p:cNvPr id="6" name="Shape"/>
          <p:cNvSpPr/>
          <p:nvPr/>
        </p:nvSpPr>
        <p:spPr>
          <a:xfrm>
            <a:off x="365760" y="960120"/>
            <a:ext cx="26974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475488" y="1069848"/>
            <a:ext cx="247802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1. Browser</a:t>
            </a:r>
          </a:p>
        </p:txBody>
      </p:sp>
      <p:sp>
        <p:nvSpPr>
          <p:cNvPr id="8" name="Text"/>
          <p:cNvSpPr/>
          <p:nvPr/>
        </p:nvSpPr>
        <p:spPr>
          <a:xfrm>
            <a:off x="475488" y="1344168"/>
            <a:ext cx="2478024" cy="7955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Home / Workflow chat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useChat + copilotBackend</a:t>
            </a:r>
          </a:p>
        </p:txBody>
      </p:sp>
      <p:sp>
        <p:nvSpPr>
          <p:cNvPr id="9" name="Shape"/>
          <p:cNvSpPr/>
          <p:nvPr/>
        </p:nvSpPr>
        <p:spPr>
          <a:xfrm>
            <a:off x="3246120" y="960120"/>
            <a:ext cx="26974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355848" y="1069848"/>
            <a:ext cx="247802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2. Lifecycle</a:t>
            </a:r>
          </a:p>
        </p:txBody>
      </p:sp>
      <p:sp>
        <p:nvSpPr>
          <p:cNvPr id="11" name="Text"/>
          <p:cNvSpPr/>
          <p:nvPr/>
        </p:nvSpPr>
        <p:spPr>
          <a:xfrm>
            <a:off x="3355848" y="1344168"/>
            <a:ext cx="2478024" cy="7955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POST /api/mothership/chat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auth · spend · persist · SSE</a:t>
            </a:r>
          </a:p>
        </p:txBody>
      </p:sp>
      <p:sp>
        <p:nvSpPr>
          <p:cNvPr id="12" name="Shape"/>
          <p:cNvSpPr/>
          <p:nvPr/>
        </p:nvSpPr>
        <p:spPr>
          <a:xfrm>
            <a:off x="6126480" y="960120"/>
            <a:ext cx="2697480" cy="1234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236208" y="1069848"/>
            <a:ext cx="247802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3. Router</a:t>
            </a:r>
          </a:p>
        </p:txBody>
      </p:sp>
      <p:sp>
        <p:nvSpPr>
          <p:cNvPr id="14" name="Text"/>
          <p:cNvSpPr/>
          <p:nvPr/>
        </p:nvSpPr>
        <p:spPr>
          <a:xfrm>
            <a:off x="6236208" y="1344168"/>
            <a:ext cx="2478024" cy="7955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shouldRouteToLocalCopilot()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env + allowlist + preference</a:t>
            </a:r>
          </a:p>
        </p:txBody>
      </p:sp>
      <p:sp>
        <p:nvSpPr>
          <p:cNvPr id="15" name="Shape"/>
          <p:cNvSpPr/>
          <p:nvPr/>
        </p:nvSpPr>
        <p:spPr>
          <a:xfrm>
            <a:off x="365760" y="2377440"/>
            <a:ext cx="4069080" cy="169164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475488" y="2487168"/>
            <a:ext cx="384962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 — in-process</a:t>
            </a:r>
          </a:p>
        </p:txBody>
      </p:sp>
      <p:sp>
        <p:nvSpPr>
          <p:cNvPr id="17" name="Text"/>
          <p:cNvSpPr/>
          <p:nvPr/>
        </p:nvSpPr>
        <p:spPr>
          <a:xfrm>
            <a:off x="475488" y="2761488"/>
            <a:ext cx="3849624" cy="12527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runLocalCopilotMothershipLifecycle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→ context + session memory + agent loop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→ tools ≤20 · specialists ≤8 inv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→ confirmations · verify · UX phases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No hop to copilot.sim.ai</a:t>
            </a:r>
          </a:p>
        </p:txBody>
      </p:sp>
      <p:sp>
        <p:nvSpPr>
          <p:cNvPr id="18" name="Shape"/>
          <p:cNvSpPr/>
          <p:nvPr/>
        </p:nvSpPr>
        <p:spPr>
          <a:xfrm>
            <a:off x="4709160" y="2377440"/>
            <a:ext cx="4069080" cy="16916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4818888" y="2487168"/>
            <a:ext cx="384962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CLOUD — Go Mothership</a:t>
            </a:r>
          </a:p>
        </p:txBody>
      </p:sp>
      <p:sp>
        <p:nvSpPr>
          <p:cNvPr id="20" name="Text"/>
          <p:cNvSpPr/>
          <p:nvPr/>
        </p:nvSpPr>
        <p:spPr>
          <a:xfrm>
            <a:off x="4818888" y="2761488"/>
            <a:ext cx="3849624" cy="12527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runCheckpointLoop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→ SIM_AGENT_API_URL + COPILOT_API_KEY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→ Go agent + 12 Go specialists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Full scrape / crawl / patterns suite</a:t>
            </a:r>
          </a:p>
        </p:txBody>
      </p:sp>
      <p:sp>
        <p:nvSpPr>
          <p:cNvPr id="21" name="Text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4. SSE → client (Mothership stream v1) — text · tools · options · confirmations · patches · canvas diff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Architecture — Local agent pipeline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Inside runLocalCopilotAgent (orchestrator.ts)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3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1310640" cy="21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10911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1. Context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1091184" cy="16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build context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wf / tables / KB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userMemories</a:t>
            </a:r>
          </a:p>
        </p:txBody>
      </p:sp>
      <p:sp>
        <p:nvSpPr>
          <p:cNvPr id="9" name="Shape"/>
          <p:cNvSpPr/>
          <p:nvPr/>
        </p:nvSpPr>
        <p:spPr>
          <a:xfrm>
            <a:off x="1813560" y="960120"/>
            <a:ext cx="1310640" cy="21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1923288" y="1069848"/>
            <a:ext cx="10911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2. Session</a:t>
            </a:r>
          </a:p>
        </p:txBody>
      </p:sp>
      <p:sp>
        <p:nvSpPr>
          <p:cNvPr id="11" name="Text"/>
          <p:cNvSpPr/>
          <p:nvPr/>
        </p:nvSpPr>
        <p:spPr>
          <a:xfrm>
            <a:off x="1923288" y="1344168"/>
            <a:ext cx="1091184" cy="16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session memory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engagement refresh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directive · evidence</a:t>
            </a:r>
          </a:p>
        </p:txBody>
      </p:sp>
      <p:sp>
        <p:nvSpPr>
          <p:cNvPr id="12" name="Shape"/>
          <p:cNvSpPr/>
          <p:nvPr/>
        </p:nvSpPr>
        <p:spPr>
          <a:xfrm>
            <a:off x="3215640" y="960120"/>
            <a:ext cx="1310640" cy="21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3325368" y="1069848"/>
            <a:ext cx="10911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3. Classify</a:t>
            </a:r>
          </a:p>
        </p:txBody>
      </p:sp>
      <p:sp>
        <p:nvSpPr>
          <p:cNvPr id="14" name="Text"/>
          <p:cNvSpPr/>
          <p:nvPr/>
        </p:nvSpPr>
        <p:spPr>
          <a:xfrm>
            <a:off x="3325368" y="1344168"/>
            <a:ext cx="1091184" cy="16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regex intent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 partition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+ 12 specialists</a:t>
            </a:r>
          </a:p>
        </p:txBody>
      </p:sp>
      <p:sp>
        <p:nvSpPr>
          <p:cNvPr id="15" name="Shape"/>
          <p:cNvSpPr/>
          <p:nvPr/>
        </p:nvSpPr>
        <p:spPr>
          <a:xfrm>
            <a:off x="4617720" y="960120"/>
            <a:ext cx="1310640" cy="21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4727448" y="1069848"/>
            <a:ext cx="10911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4. Loop</a:t>
            </a:r>
          </a:p>
        </p:txBody>
      </p:sp>
      <p:sp>
        <p:nvSpPr>
          <p:cNvPr id="17" name="Text"/>
          <p:cNvSpPr/>
          <p:nvPr/>
        </p:nvSpPr>
        <p:spPr>
          <a:xfrm>
            <a:off x="4727448" y="1344168"/>
            <a:ext cx="1091184" cy="16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LLM stream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tools ≤20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nested specialists</a:t>
            </a:r>
          </a:p>
        </p:txBody>
      </p:sp>
      <p:sp>
        <p:nvSpPr>
          <p:cNvPr id="18" name="Shape"/>
          <p:cNvSpPr/>
          <p:nvPr/>
        </p:nvSpPr>
        <p:spPr>
          <a:xfrm>
            <a:off x="6019800" y="960120"/>
            <a:ext cx="1310640" cy="21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6129528" y="1069848"/>
            <a:ext cx="10911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5. Guard</a:t>
            </a:r>
          </a:p>
        </p:txBody>
      </p:sp>
      <p:sp>
        <p:nvSpPr>
          <p:cNvPr id="20" name="Text"/>
          <p:cNvSpPr/>
          <p:nvPr/>
        </p:nvSpPr>
        <p:spPr>
          <a:xfrm>
            <a:off x="6129528" y="1344168"/>
            <a:ext cx="1091184" cy="16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confirm · verify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spend cap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write safety</a:t>
            </a:r>
          </a:p>
        </p:txBody>
      </p:sp>
      <p:sp>
        <p:nvSpPr>
          <p:cNvPr id="21" name="Shape"/>
          <p:cNvSpPr/>
          <p:nvPr/>
        </p:nvSpPr>
        <p:spPr>
          <a:xfrm>
            <a:off x="7421880" y="960120"/>
            <a:ext cx="1310640" cy="21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7531608" y="1069848"/>
            <a:ext cx="10911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6. Finish</a:t>
            </a:r>
          </a:p>
        </p:txBody>
      </p:sp>
      <p:sp>
        <p:nvSpPr>
          <p:cNvPr id="23" name="Text"/>
          <p:cNvSpPr/>
          <p:nvPr/>
        </p:nvSpPr>
        <p:spPr>
          <a:xfrm>
            <a:off x="7531608" y="1344168"/>
            <a:ext cx="1091184" cy="16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UX phases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summary / run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billing · SSE</a:t>
            </a:r>
          </a:p>
        </p:txBody>
      </p:sp>
      <p:sp>
        <p:nvSpPr>
          <p:cNvPr id="24" name="Text"/>
          <p:cNvSpPr/>
          <p:nvPr/>
        </p:nvSpPr>
        <p:spPr>
          <a:xfrm>
            <a:off x="411480" y="3200000"/>
            <a:ext cx="832104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Key files: routing.ts · mothership-lifecycle.ts · orchestrator.ts · security/* · verification/* · writes/* · billing/* · ux-phase.ts</a:t>
            </a:r>
          </a:p>
        </p:txBody>
      </p:sp>
      <p:sp>
        <p:nvSpPr>
          <p:cNvPr id="25" name="Shape"/>
          <p:cNvSpPr/>
          <p:nvPr/>
        </p:nvSpPr>
        <p:spPr>
          <a:xfrm>
            <a:off x="411480" y="3700000"/>
            <a:ext cx="8321040" cy="70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/>
          <p:nvPr/>
        </p:nvSpPr>
        <p:spPr>
          <a:xfrm>
            <a:off x="531480" y="3850000"/>
            <a:ext cx="8081040" cy="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Aug 2026: app-owned guardrails between tool calls — confirmations, verification, revision/idempotency, spend gates — not only prompt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Architecture — specialists &amp; tools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Parent sees 12 entry tools; leaf catalogs run in nested specialist loops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4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4200000" cy="28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Hybrid specialist model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3980544" cy="2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Same 12 Cloud names: workflow, run, deploy,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auth, knowledge, table, scheduled_task,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agent, research, media, file, superagent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Parent calls specialist entry tools only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Nested leaf loops in-process (no Go procs)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Budgets: depth≤3 · concurrent≤4 · 8 inv/turn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~73 delegated platform tools + native create/edit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Local-only extras: search_online, user_memory,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invoke_integration_tool, load_user_skill, …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960120"/>
            <a:ext cx="3800000" cy="2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106984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Deliberate gaps vs Cloud catalog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344168"/>
            <a:ext cx="3580544" cy="2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Withheld by design: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set_environment_variables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load_integration_tool (use invoke_…)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/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Still Go-only (unported):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scrape_page · crawl_website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get_page_contents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search_library_docs · search_patterns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/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Parity target: core build / run / deploy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— not byte-for-byte Cloud replica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Architecture — context, memory, providers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Stateless providers; prompt rebuilt from Postgres every turn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5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0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4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Context budget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4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120k tokens (js-tiktoken)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Full workflow ≤24k else compact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Last 6 turns verbatim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History cap 50 · msg 8k chars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Snapshot freshness + delta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0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4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Memory layers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4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Shared copilot_chats/messages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Session scratchpad (JSON)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userMemories (confidence ≥0.7)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See deep-dive slides →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00000" cy="16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4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LLM providers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4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anthropic (native + cache)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openai / azure / compatible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bedrock · gemini (gateway)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BYO keys · env swap models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Engagement model for titles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800000"/>
            <a:ext cx="8321040" cy="1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909728"/>
            <a:ext cx="81015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Data plane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184048"/>
            <a:ext cx="8101584" cy="10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Primary path: shared mothership tables (persistLocally: false) — switch backends without losing chat.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Standalone /api/local-copilot/chat: local_copilot_* tables + full tool/patch audit trail.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Secrets stripped via sanitizeForLlm before any prompt; credentials appear as metadata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Advantages — why Local exists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Business value for self-hosted, private cloud, and gradual rollout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6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160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Data residency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Prompts, workflows, transcripts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stay in your Postgres + LLM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No relay via copilot.sim.ai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160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Air-gapped ready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Only outbound: app → your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provider / internal gateway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Works behind private endpoints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160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Cost &amp; model freedom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BYO API keys and models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Swap via env — no code change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Same platform spend caps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710120"/>
            <a:ext cx="2750000" cy="16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Safety waves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App-owned confirm · verify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write safety · spend gates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Not prompt rules alone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2710120"/>
            <a:ext cx="2750000" cy="16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Product parity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Same chat UI &amp; SSE contract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Core build / run / deploy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Diff overlay + approvals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2710120"/>
            <a:ext cx="2750000" cy="16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Controlled rollout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Deny-by-default allowlist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 / Cloud switch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local_only pin for sensitive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Advantages — in depth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What leadership and operators actually gain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7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8321040" cy="3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09728"/>
            <a:ext cx="81015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Depth behind each advantage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84048"/>
            <a:ext cx="8101584" cy="3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Residency — chat history in your DB; standalone path adds tool/patch audit rows. Compliance story is yours.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Independence — vendor outage at copilot.sim.ai cannot take down Local users. One less SPOF.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Latency — inference is app → provider (no third-party agent hop). Anthropic prompt caching cuts repeat cost.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Cost — you choose model tier (main vs specialist/haiku). Hosted billing still records via recordModelUsage.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Safety — Waves 1–6 are code-enforced: high-risk tools need UI confirm; mutations get verifiers; writes pin IDs/revisions.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Parity — ~75 Cloud catalog tools portable + local extras. Parent tool surface stays small (12 specialists) for quality.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Rollout — COPILOT_ENABLED + has_access + preference. Fail closed → Cloud (or 503 on hard-require). SQL grant to expand.</a:t>
            </a:r>
          </a:p>
          <a:p>
            <a:r>
              <a:rPr sz="13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Ops clarity — logs tagged Arena Copilot; metrics on budget, cache hits, confirmation strips,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What shipped — Waves 1–6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Reliability stack layered on the Jul hybrid-specialist agent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8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1 Safety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 confirmations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Trusted controls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Strip IDs from chat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2 Verify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validate_workflow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check_deployment_status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Completion policy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3 Writes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Look-before-write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Pin IDs · revision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Dry-run / idempotency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4 Context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Artifacts · task state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 slots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Snapshot freshness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5 Ops/Cost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Spend cap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Preflight cost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Audit sanitize · metrics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6 UX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UX phases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Run result in chat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Patch / Approve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Wave 1 — Safety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Confirm high-risk tools · never trust model-authored privilege tags · hide IDs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9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4200000" cy="32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0972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 confirmation policy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84048"/>
            <a:ext cx="3980544" cy="27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Categories: destructive · production ·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credential · costly · external_write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Examples: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delete_workflow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deploy_* / promote_to_live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generate_api_key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generate_audio / generate_video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UI: Approve / Reject via tool_confirmation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tag (app-attested only).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900000"/>
            <a:ext cx="3800000" cy="1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100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Trusted controls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284048"/>
            <a:ext cx="3580544" cy="10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Strip untrusted credential /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tool_confirmation / workflow_patch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tags from model prose. Only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orchestrator-emitted controls reach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the chat renderer.</a:t>
            </a:r>
          </a:p>
        </p:txBody>
      </p:sp>
      <p:sp>
        <p:nvSpPr>
          <p:cNvPr id="12" name="Shape"/>
          <p:cNvSpPr/>
          <p:nvPr/>
        </p:nvSpPr>
        <p:spPr>
          <a:xfrm>
            <a:off x="4900000" y="2600000"/>
            <a:ext cx="3800000" cy="1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5009728" y="270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User-facing ID stripping</a:t>
            </a:r>
          </a:p>
        </p:txBody>
      </p:sp>
      <p:sp>
        <p:nvSpPr>
          <p:cNvPr id="14" name="Text"/>
          <p:cNvSpPr/>
          <p:nvPr/>
        </p:nvSpPr>
        <p:spPr>
          <a:xfrm>
            <a:off x="5009728" y="2984048"/>
            <a:ext cx="3580544" cy="10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stripIdsFromUserFacingText removes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UUIDs, workflowId/blockId labels,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toolu_/call_ ids. Preserves https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URLs and privileged control tags.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Wave 2 — Verification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App-owned checks after successful mutations — not model self-report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10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4000000" cy="7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37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Mutation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3780544" cy="2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create_workflow / edit_workflow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960120"/>
            <a:ext cx="3800000" cy="7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106984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Verifier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344168"/>
            <a:ext cx="3580544" cy="2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validate_workflow</a:t>
            </a:r>
          </a:p>
        </p:txBody>
      </p:sp>
      <p:sp>
        <p:nvSpPr>
          <p:cNvPr id="12" name="Shape"/>
          <p:cNvSpPr/>
          <p:nvPr/>
        </p:nvSpPr>
        <p:spPr>
          <a:xfrm>
            <a:off x="411480" y="1800000"/>
            <a:ext cx="4000000" cy="7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521208" y="1909728"/>
            <a:ext cx="37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Mutation</a:t>
            </a:r>
          </a:p>
        </p:txBody>
      </p:sp>
      <p:sp>
        <p:nvSpPr>
          <p:cNvPr id="14" name="Text"/>
          <p:cNvSpPr/>
          <p:nvPr/>
        </p:nvSpPr>
        <p:spPr>
          <a:xfrm>
            <a:off x="521208" y="2184048"/>
            <a:ext cx="3780544" cy="2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deploy_* / redeploy / promote / update version</a:t>
            </a:r>
          </a:p>
        </p:txBody>
      </p:sp>
      <p:sp>
        <p:nvSpPr>
          <p:cNvPr id="15" name="Shape"/>
          <p:cNvSpPr/>
          <p:nvPr/>
        </p:nvSpPr>
        <p:spPr>
          <a:xfrm>
            <a:off x="4900000" y="1800000"/>
            <a:ext cx="3800000" cy="7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009728" y="190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Verifier</a:t>
            </a:r>
          </a:p>
        </p:txBody>
      </p:sp>
      <p:sp>
        <p:nvSpPr>
          <p:cNvPr id="17" name="Text"/>
          <p:cNvSpPr/>
          <p:nvPr/>
        </p:nvSpPr>
        <p:spPr>
          <a:xfrm>
            <a:off x="5009728" y="2184048"/>
            <a:ext cx="3580544" cy="2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check_deployment_status</a:t>
            </a:r>
          </a:p>
        </p:txBody>
      </p:sp>
      <p:sp>
        <p:nvSpPr>
          <p:cNvPr id="18" name="Shape"/>
          <p:cNvSpPr/>
          <p:nvPr/>
        </p:nvSpPr>
        <p:spPr>
          <a:xfrm>
            <a:off x="411480" y="2800000"/>
            <a:ext cx="8321040" cy="15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521208" y="2909728"/>
            <a:ext cx="81015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Completion policy</a:t>
            </a:r>
          </a:p>
        </p:txBody>
      </p:sp>
      <p:sp>
        <p:nvSpPr>
          <p:cNvPr id="20" name="Text"/>
          <p:cNvSpPr/>
          <p:nvPr/>
        </p:nvSpPr>
        <p:spPr>
          <a:xfrm>
            <a:off x="521208" y="3184048"/>
            <a:ext cx="8101584" cy="10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Gates turn completion until required verifiers pass (or are waived by policy).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Specialist results are checked for structural success before the parent treats a domain as done.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UX phase: Verifying… while checks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Wave 3 — Write safety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Look before write · pin IDs · revision · dry-run · specialist scheduling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Look before write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Require fresh context / read before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mutating workflow or files when stale.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Pin IDs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Lock block / workflow ids across a turn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so edits cannot retarget silently.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Revision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Track expected revision; reject stale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apply against concurrent canvas edits.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Dry-run / preview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High-impact edit_workflow can preview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first; confirmed:true to apply.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Idempotency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Replay-safe writes when the same tool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call is retried mid-turn.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Specialist schedule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Order write-capable specialists to avoid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conflicting parallel mutators.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Wave 4 — Context engineering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Artifacts · prompt slots · task state · snapshot freshness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12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420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Artifacts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39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Structured turn artifacts (files,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workflows, runs) tracked for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follow-ups and summaries.</a:t>
            </a:r>
          </a:p>
        </p:txBody>
      </p:sp>
      <p:sp>
        <p:nvSpPr>
          <p:cNvPr id="9" name="Shape"/>
          <p:cNvSpPr/>
          <p:nvPr/>
        </p:nvSpPr>
        <p:spPr>
          <a:xfrm>
            <a:off x="4761480" y="960120"/>
            <a:ext cx="420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4871208" y="106984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 slots</a:t>
            </a:r>
          </a:p>
        </p:txBody>
      </p:sp>
      <p:sp>
        <p:nvSpPr>
          <p:cNvPr id="11" name="Text"/>
          <p:cNvSpPr/>
          <p:nvPr/>
        </p:nvSpPr>
        <p:spPr>
          <a:xfrm>
            <a:off x="4871208" y="1344168"/>
            <a:ext cx="39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Budgeted prompt sections so dynamic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context cannot crowd out rules / tools.</a:t>
            </a:r>
          </a:p>
        </p:txBody>
      </p:sp>
      <p:sp>
        <p:nvSpPr>
          <p:cNvPr id="12" name="Shape"/>
          <p:cNvSpPr/>
          <p:nvPr/>
        </p:nvSpPr>
        <p:spPr>
          <a:xfrm>
            <a:off x="411480" y="2710120"/>
            <a:ext cx="420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521208" y="281984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Task state</a:t>
            </a:r>
          </a:p>
        </p:txBody>
      </p:sp>
      <p:sp>
        <p:nvSpPr>
          <p:cNvPr id="14" name="Text"/>
          <p:cNvSpPr/>
          <p:nvPr/>
        </p:nvSpPr>
        <p:spPr>
          <a:xfrm>
            <a:off x="521208" y="3094168"/>
            <a:ext cx="39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Per-turn goals / open steps so the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agent continues instead of re-planning.</a:t>
            </a:r>
          </a:p>
        </p:txBody>
      </p:sp>
      <p:sp>
        <p:nvSpPr>
          <p:cNvPr id="15" name="Shape"/>
          <p:cNvSpPr/>
          <p:nvPr/>
        </p:nvSpPr>
        <p:spPr>
          <a:xfrm>
            <a:off x="4761480" y="2710120"/>
            <a:ext cx="420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4871208" y="281984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Freshness</a:t>
            </a:r>
          </a:p>
        </p:txBody>
      </p:sp>
      <p:sp>
        <p:nvSpPr>
          <p:cNvPr id="17" name="Text"/>
          <p:cNvSpPr/>
          <p:nvPr/>
        </p:nvSpPr>
        <p:spPr>
          <a:xfrm>
            <a:off x="4871208" y="3094168"/>
            <a:ext cx="398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Snapshot-freshness checks so stale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workflow context triggers a re-read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before write.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Wave 5 — Ops &amp; cost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Spend caps · preflight estimates · turn accumulator · sanitized audit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13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4200000" cy="32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Spend &amp; billing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3980544" cy="27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assertSpendCapAllows — fail-closed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before / mid turn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remainingSpendBudget vs hosted limits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preflight-cost for costly tools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(shown on confirm)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turn-cost-accumulator → recordModelUsage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Same mothership spend gates when billing on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960120"/>
            <a:ext cx="3800000" cy="32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106984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Ops telemetry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344168"/>
            <a:ext cx="3580544" cy="27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Local ops counters / metrics events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Audit sanitize before persistence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Injection-strip metrics when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untrusted tags removed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Checkpoint helpers for specialist recovery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Wave 6 — UX polish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Live phases · no empty settles · patch / approve controls · clean prose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UX phases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Proposing… · Executing…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Waiting for approval… · Verifying…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Run result in chat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When run_workflow finishes without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post-run prose, append captured output.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Bridging holdback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“Let me…” scaffolding stays out of the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bubble until a real reply exists.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Patch UI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workflow_patch → Apply / Reject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(IDs in tag, not shown as prose).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Office follow-ups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Empty PPTX/DOCX/PDF shells need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workspace_file before edit_content.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ID-free chat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text_delta / errors / stagnation go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through stripIdsFromUserFacingText.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12 specialists (unchanged core)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Parent sees filtered domain tools ∪ specialist entry tools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15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workflow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20 tools</a:t>
            </a:r>
          </a:p>
        </p:txBody>
      </p:sp>
      <p:sp>
        <p:nvSpPr>
          <p:cNvPr id="9" name="Shape"/>
          <p:cNvSpPr/>
          <p:nvPr/>
        </p:nvSpPr>
        <p:spPr>
          <a:xfrm>
            <a:off x="2586480" y="9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2696208" y="10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run</a:t>
            </a:r>
          </a:p>
        </p:txBody>
      </p:sp>
      <p:sp>
        <p:nvSpPr>
          <p:cNvPr id="11" name="Text"/>
          <p:cNvSpPr/>
          <p:nvPr/>
        </p:nvSpPr>
        <p:spPr>
          <a:xfrm>
            <a:off x="2696208" y="13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11 tools</a:t>
            </a:r>
          </a:p>
        </p:txBody>
      </p:sp>
      <p:sp>
        <p:nvSpPr>
          <p:cNvPr id="12" name="Shape"/>
          <p:cNvSpPr/>
          <p:nvPr/>
        </p:nvSpPr>
        <p:spPr>
          <a:xfrm>
            <a:off x="4761480" y="9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4871208" y="10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deploy</a:t>
            </a:r>
          </a:p>
        </p:txBody>
      </p:sp>
      <p:sp>
        <p:nvSpPr>
          <p:cNvPr id="14" name="Text"/>
          <p:cNvSpPr/>
          <p:nvPr/>
        </p:nvSpPr>
        <p:spPr>
          <a:xfrm>
            <a:off x="4871208" y="13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16 tools</a:t>
            </a:r>
          </a:p>
        </p:txBody>
      </p:sp>
      <p:sp>
        <p:nvSpPr>
          <p:cNvPr id="15" name="Shape"/>
          <p:cNvSpPr/>
          <p:nvPr/>
        </p:nvSpPr>
        <p:spPr>
          <a:xfrm>
            <a:off x="6936480" y="9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7046208" y="10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auth</a:t>
            </a:r>
          </a:p>
        </p:txBody>
      </p:sp>
      <p:sp>
        <p:nvSpPr>
          <p:cNvPr id="17" name="Text"/>
          <p:cNvSpPr/>
          <p:nvPr/>
        </p:nvSpPr>
        <p:spPr>
          <a:xfrm>
            <a:off x="7046208" y="13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6 tools</a:t>
            </a:r>
          </a:p>
        </p:txBody>
      </p:sp>
      <p:sp>
        <p:nvSpPr>
          <p:cNvPr id="18" name="Shape"/>
          <p:cNvSpPr/>
          <p:nvPr/>
        </p:nvSpPr>
        <p:spPr>
          <a:xfrm>
            <a:off x="411480" y="211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521208" y="221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knowledge</a:t>
            </a:r>
          </a:p>
        </p:txBody>
      </p:sp>
      <p:sp>
        <p:nvSpPr>
          <p:cNvPr id="20" name="Text"/>
          <p:cNvSpPr/>
          <p:nvPr/>
        </p:nvSpPr>
        <p:spPr>
          <a:xfrm>
            <a:off x="521208" y="249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2 tools</a:t>
            </a:r>
          </a:p>
        </p:txBody>
      </p:sp>
      <p:sp>
        <p:nvSpPr>
          <p:cNvPr id="21" name="Shape"/>
          <p:cNvSpPr/>
          <p:nvPr/>
        </p:nvSpPr>
        <p:spPr>
          <a:xfrm>
            <a:off x="2586480" y="211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2696208" y="221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table</a:t>
            </a:r>
          </a:p>
        </p:txBody>
      </p:sp>
      <p:sp>
        <p:nvSpPr>
          <p:cNvPr id="23" name="Text"/>
          <p:cNvSpPr/>
          <p:nvPr/>
        </p:nvSpPr>
        <p:spPr>
          <a:xfrm>
            <a:off x="2696208" y="249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3 tools</a:t>
            </a:r>
          </a:p>
        </p:txBody>
      </p:sp>
      <p:sp>
        <p:nvSpPr>
          <p:cNvPr id="24" name="Shape"/>
          <p:cNvSpPr/>
          <p:nvPr/>
        </p:nvSpPr>
        <p:spPr>
          <a:xfrm>
            <a:off x="4761480" y="211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/>
          <p:nvPr/>
        </p:nvSpPr>
        <p:spPr>
          <a:xfrm>
            <a:off x="4871208" y="221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scheduled_task</a:t>
            </a:r>
          </a:p>
        </p:txBody>
      </p:sp>
      <p:sp>
        <p:nvSpPr>
          <p:cNvPr id="26" name="Text"/>
          <p:cNvSpPr/>
          <p:nvPr/>
        </p:nvSpPr>
        <p:spPr>
          <a:xfrm>
            <a:off x="4871208" y="249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4 tools</a:t>
            </a:r>
          </a:p>
        </p:txBody>
      </p:sp>
      <p:sp>
        <p:nvSpPr>
          <p:cNvPr id="27" name="Shape"/>
          <p:cNvSpPr/>
          <p:nvPr/>
        </p:nvSpPr>
        <p:spPr>
          <a:xfrm>
            <a:off x="6936480" y="211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/>
          <p:nvPr/>
        </p:nvSpPr>
        <p:spPr>
          <a:xfrm>
            <a:off x="7046208" y="221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agent</a:t>
            </a:r>
          </a:p>
        </p:txBody>
      </p:sp>
      <p:sp>
        <p:nvSpPr>
          <p:cNvPr id="29" name="Text"/>
          <p:cNvSpPr/>
          <p:nvPr/>
        </p:nvSpPr>
        <p:spPr>
          <a:xfrm>
            <a:off x="7046208" y="249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13 tools</a:t>
            </a:r>
          </a:p>
        </p:txBody>
      </p:sp>
      <p:sp>
        <p:nvSpPr>
          <p:cNvPr id="30" name="Shape"/>
          <p:cNvSpPr/>
          <p:nvPr/>
        </p:nvSpPr>
        <p:spPr>
          <a:xfrm>
            <a:off x="411480" y="32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/>
          <p:nvPr/>
        </p:nvSpPr>
        <p:spPr>
          <a:xfrm>
            <a:off x="521208" y="33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research</a:t>
            </a:r>
          </a:p>
        </p:txBody>
      </p:sp>
      <p:sp>
        <p:nvSpPr>
          <p:cNvPr id="32" name="Text"/>
          <p:cNvSpPr/>
          <p:nvPr/>
        </p:nvSpPr>
        <p:spPr>
          <a:xfrm>
            <a:off x="521208" y="36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5 tools</a:t>
            </a:r>
          </a:p>
        </p:txBody>
      </p:sp>
      <p:sp>
        <p:nvSpPr>
          <p:cNvPr id="33" name="Shape"/>
          <p:cNvSpPr/>
          <p:nvPr/>
        </p:nvSpPr>
        <p:spPr>
          <a:xfrm>
            <a:off x="2586480" y="32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/>
          <p:nvPr/>
        </p:nvSpPr>
        <p:spPr>
          <a:xfrm>
            <a:off x="2696208" y="33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media</a:t>
            </a:r>
          </a:p>
        </p:txBody>
      </p:sp>
      <p:sp>
        <p:nvSpPr>
          <p:cNvPr id="35" name="Text"/>
          <p:cNvSpPr/>
          <p:nvPr/>
        </p:nvSpPr>
        <p:spPr>
          <a:xfrm>
            <a:off x="2696208" y="36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4 tools</a:t>
            </a:r>
          </a:p>
        </p:txBody>
      </p:sp>
      <p:sp>
        <p:nvSpPr>
          <p:cNvPr id="36" name="Shape"/>
          <p:cNvSpPr/>
          <p:nvPr/>
        </p:nvSpPr>
        <p:spPr>
          <a:xfrm>
            <a:off x="4761480" y="32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/>
          <p:nvPr/>
        </p:nvSpPr>
        <p:spPr>
          <a:xfrm>
            <a:off x="4871208" y="33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file</a:t>
            </a:r>
          </a:p>
        </p:txBody>
      </p:sp>
      <p:sp>
        <p:nvSpPr>
          <p:cNvPr id="38" name="Text"/>
          <p:cNvSpPr/>
          <p:nvPr/>
        </p:nvSpPr>
        <p:spPr>
          <a:xfrm>
            <a:off x="4871208" y="36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17 tools</a:t>
            </a:r>
          </a:p>
        </p:txBody>
      </p:sp>
      <p:sp>
        <p:nvSpPr>
          <p:cNvPr id="39" name="Shape"/>
          <p:cNvSpPr/>
          <p:nvPr/>
        </p:nvSpPr>
        <p:spPr>
          <a:xfrm>
            <a:off x="6936480" y="3260120"/>
            <a:ext cx="2050000" cy="1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/>
          <p:nvPr/>
        </p:nvSpPr>
        <p:spPr>
          <a:xfrm>
            <a:off x="7046208" y="3369848"/>
            <a:ext cx="18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superagent</a:t>
            </a:r>
          </a:p>
        </p:txBody>
      </p:sp>
      <p:sp>
        <p:nvSpPr>
          <p:cNvPr id="41" name="Text"/>
          <p:cNvSpPr/>
          <p:nvPr/>
        </p:nvSpPr>
        <p:spPr>
          <a:xfrm>
            <a:off x="7046208" y="3644168"/>
            <a:ext cx="1830544" cy="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∪ tools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Memory layers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Shared chat · session scratchpad · durable userMemories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16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3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1. Shared chat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2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copilot_chats /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copilot_messages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Same as Cloud ·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Local↔Cloud keeps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transcript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Mothership path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writes here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30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2. Session scratchpad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2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config.sessionMemory JSON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goals · decisions ·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constraints · directive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Engagement-model refresh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· no RAG · see next slide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3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3. userMemories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2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local_copilot_user_memory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prefs / entities /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corrections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Injected every turn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(confidence ≥ 0.7)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Session memory — in depth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Structured scratchpad in copilot_chats.config · survives history compaction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17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880000"/>
            <a:ext cx="4200000" cy="20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98972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Schema (v1)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64048"/>
            <a:ext cx="3980544" cy="1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goals · decisions · constraints (≤12)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activeDirective (latest outstanding instruction)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entities: workflows / blocks / files / runs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progress · openQuestions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approvals · failures · verification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notes ≤500 chars · arrays ≤8 items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Never stores secrets (keys / tokens)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880000"/>
            <a:ext cx="3800000" cy="2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98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Refresh triggers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264048"/>
            <a:ext cx="3580544" cy="15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First refresh: &gt;6 history turns OR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soft history budget &gt;24k tokens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Incremental: any uncovered turns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beyond the recent-6 window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Summarizer: engagement model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timeout 2s · maxTokens 900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Soft-fail — never blocks the turn</a:t>
            </a:r>
          </a:p>
        </p:txBody>
      </p:sp>
      <p:sp>
        <p:nvSpPr>
          <p:cNvPr id="12" name="Shape"/>
          <p:cNvSpPr/>
          <p:nvPr/>
        </p:nvSpPr>
        <p:spPr>
          <a:xfrm>
            <a:off x="411480" y="3050000"/>
            <a:ext cx="4200000" cy="145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521208" y="315972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Inject &amp; pin</a:t>
            </a:r>
          </a:p>
        </p:txBody>
      </p:sp>
      <p:sp>
        <p:nvSpPr>
          <p:cNvPr id="14" name="Text"/>
          <p:cNvSpPr/>
          <p:nvPr/>
        </p:nvSpPr>
        <p:spPr>
          <a:xfrm>
            <a:off x="521208" y="3434048"/>
            <a:ext cx="3980544" cy="101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System msg: “Session memory (authoritative…)”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 cap ~1.8k tokens; pin constraints + directive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Recent failures → CRITICAL system msg (don’t retry)</a:t>
            </a:r>
          </a:p>
        </p:txBody>
      </p:sp>
      <p:sp>
        <p:nvSpPr>
          <p:cNvPr id="15" name="Shape"/>
          <p:cNvSpPr/>
          <p:nvPr/>
        </p:nvSpPr>
        <p:spPr>
          <a:xfrm>
            <a:off x="4900000" y="3050000"/>
            <a:ext cx="3800000" cy="145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009728" y="315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Evidence merge (no LLM)</a:t>
            </a:r>
          </a:p>
        </p:txBody>
      </p:sp>
      <p:sp>
        <p:nvSpPr>
          <p:cNvPr id="17" name="Text"/>
          <p:cNvSpPr/>
          <p:nvPr/>
        </p:nvSpPr>
        <p:spPr>
          <a:xfrm>
            <a:off x="5009728" y="3434048"/>
            <a:ext cx="3580544" cy="101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Follow-up directives merge immediately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End-of-turn: approvals / failures /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verification appended &amp; persisted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Live Workspace snapshot wins on entity lag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Cache layers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Provider prompt cache · microcompact · snapshot delta — stacked cost/latency wins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18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880000"/>
            <a:ext cx="2750000" cy="32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98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1. Anthropic prompt cache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64048"/>
            <a:ext cx="2530544" cy="27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When COPILOT_PROVIDER=anthropic: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cache_control on last tool def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(whole tool catalog prefix)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first system block (static rules)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top-level automatic cache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(ephemeral · TTL 1h)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Growing chat advances breakpoint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Logs: cacheReadTokens /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cacheCreationTokens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Healthy multi-round: large reads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after first write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880000"/>
            <a:ext cx="2750000" cy="32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98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2. Bedrock prompt cache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264048"/>
            <a:ext cx="2530544" cy="27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cachePoint on tools + system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(+ tip message when safe)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TTL 1h · model must support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prompt caching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Never on toolUse/toolResult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turns (Bedrock rejects)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Usage maps cache read/write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into TokenUsage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Same intent as Anthropic: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reuse stable prefix across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tool-loop rounds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880000"/>
            <a:ext cx="2750000" cy="320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98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3. App-side compaction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264048"/>
            <a:ext cx="2530544" cy="27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Microcompact (zero LLM cost):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keep last 2 tool rounds full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older tool results → fingerprint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“[Old tool result cleared…]”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Snapshot delta cache: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fingerprint VFS inventory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full / delta / unchanged modes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freshness gate before write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Session memory = semantic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cache of aged turns (slide 17)</a:t>
            </a:r>
          </a:p>
          <a:p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Does NOT raise the 120k budget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Budgets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Token · tools · specialists · spend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19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 rounds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MAX_TOOL_ITERATIONS = 20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(+ forced follow-ups)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 budget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120,000 tokens (js-tiktoken);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drop oldest non-system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Workflow detail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Full ≤24k tokens; else compact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ids/types/names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Verbatim window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Last 6 turns full; older →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session scratchpad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Specialists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depth≤3 · concurrent≤4 ·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8 inv/turn · 90s · parallel≤4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Spend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Hosted usage limits · fail-closed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mid-turn · costly tool confirm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Access — deny-by-default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Fail closed. Miss → Cloud (or 503 on hard-require routes).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20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COPILOT_ENABLED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Env master switch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(default true if unset).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has_access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local_copilot_user_access row.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New users start false.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6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6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local_only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34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Force Local; hide switch;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ignore stale preference.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Preference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localStorage →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body.copilotBackend.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Fail-closed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No row / DB error / missing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ids → deny Local.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2710120"/>
            <a:ext cx="2750000" cy="16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281984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Grant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3094168"/>
            <a:ext cx="2530544" cy="11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UPDATE … SET has_access=true</a:t>
            </a:r>
          </a:p>
          <a:p>
            <a:r>
              <a:rPr sz="11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WHERE email='…'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 vs Mothership — side-by-side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Same product surface; different runtime ownership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21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2400000" cy="45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11480" y="980000"/>
            <a:ext cx="22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8" name="Shape"/>
          <p:cNvSpPr/>
          <p:nvPr/>
        </p:nvSpPr>
        <p:spPr>
          <a:xfrm>
            <a:off x="2911480" y="900000"/>
            <a:ext cx="3000000" cy="45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/>
          <p:nvPr/>
        </p:nvSpPr>
        <p:spPr>
          <a:xfrm>
            <a:off x="3011480" y="980000"/>
            <a:ext cx="28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FFFFFF"/>
                </a:solidFill>
                <a:latin typeface="Arial"/>
              </a:rPr>
              <a:t>Local Copilot</a:t>
            </a:r>
          </a:p>
        </p:txBody>
      </p:sp>
      <p:sp>
        <p:nvSpPr>
          <p:cNvPr id="10" name="Shape"/>
          <p:cNvSpPr/>
          <p:nvPr/>
        </p:nvSpPr>
        <p:spPr>
          <a:xfrm>
            <a:off x="6011480" y="900000"/>
            <a:ext cx="3000000" cy="45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/>
          <p:nvPr/>
        </p:nvSpPr>
        <p:spPr>
          <a:xfrm>
            <a:off x="6111480" y="980000"/>
            <a:ext cx="280000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cs typeface="Arial"/>
                <a:ea typeface="Arial"/>
                <a:solidFill>
                  <a:srgbClr val="FFFFFF"/>
                </a:solidFill>
                <a:latin typeface="Arial"/>
              </a:rPr>
              <a:t>Cloud Mothership (Go)</a:t>
            </a:r>
          </a:p>
        </p:txBody>
      </p:sp>
      <p:sp>
        <p:nvSpPr>
          <p:cNvPr id="12" name="Shape"/>
          <p:cNvSpPr/>
          <p:nvPr/>
        </p:nvSpPr>
        <p:spPr>
          <a:xfrm>
            <a:off x="411480" y="1400000"/>
            <a:ext cx="24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hape"/>
          <p:cNvSpPr/>
          <p:nvPr/>
        </p:nvSpPr>
        <p:spPr>
          <a:xfrm>
            <a:off x="2911480" y="140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hape"/>
          <p:cNvSpPr/>
          <p:nvPr/>
        </p:nvSpPr>
        <p:spPr>
          <a:xfrm>
            <a:off x="6011480" y="140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/>
          <p:nvPr/>
        </p:nvSpPr>
        <p:spPr>
          <a:xfrm>
            <a:off x="491480" y="148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Runtime</a:t>
            </a:r>
          </a:p>
        </p:txBody>
      </p:sp>
      <p:sp>
        <p:nvSpPr>
          <p:cNvPr id="16" name="Text"/>
          <p:cNvSpPr/>
          <p:nvPr/>
        </p:nvSpPr>
        <p:spPr>
          <a:xfrm>
            <a:off x="2991480" y="148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In-process Next.js (Arena)</a:t>
            </a:r>
          </a:p>
        </p:txBody>
      </p:sp>
      <p:sp>
        <p:nvSpPr>
          <p:cNvPr id="17" name="Text"/>
          <p:cNvSpPr/>
          <p:nvPr/>
        </p:nvSpPr>
        <p:spPr>
          <a:xfrm>
            <a:off x="6091480" y="148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External Go service</a:t>
            </a:r>
          </a:p>
        </p:txBody>
      </p:sp>
      <p:sp>
        <p:nvSpPr>
          <p:cNvPr id="18" name="Shape"/>
          <p:cNvSpPr/>
          <p:nvPr/>
        </p:nvSpPr>
        <p:spPr>
          <a:xfrm>
            <a:off x="411480" y="1770000"/>
            <a:ext cx="24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hape"/>
          <p:cNvSpPr/>
          <p:nvPr/>
        </p:nvSpPr>
        <p:spPr>
          <a:xfrm>
            <a:off x="2911480" y="177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hape"/>
          <p:cNvSpPr/>
          <p:nvPr/>
        </p:nvSpPr>
        <p:spPr>
          <a:xfrm>
            <a:off x="6011480" y="177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/>
          <p:nvPr/>
        </p:nvSpPr>
        <p:spPr>
          <a:xfrm>
            <a:off x="491480" y="185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LLM calls</a:t>
            </a:r>
          </a:p>
        </p:txBody>
      </p:sp>
      <p:sp>
        <p:nvSpPr>
          <p:cNvPr id="22" name="Text"/>
          <p:cNvSpPr/>
          <p:nvPr/>
        </p:nvSpPr>
        <p:spPr>
          <a:xfrm>
            <a:off x="2991480" y="185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Your provider / BYO keys</a:t>
            </a:r>
          </a:p>
        </p:txBody>
      </p:sp>
      <p:sp>
        <p:nvSpPr>
          <p:cNvPr id="23" name="Text"/>
          <p:cNvSpPr/>
          <p:nvPr/>
        </p:nvSpPr>
        <p:spPr>
          <a:xfrm>
            <a:off x="6091480" y="185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Arena-operated models</a:t>
            </a:r>
          </a:p>
        </p:txBody>
      </p:sp>
      <p:sp>
        <p:nvSpPr>
          <p:cNvPr id="24" name="Shape"/>
          <p:cNvSpPr/>
          <p:nvPr/>
        </p:nvSpPr>
        <p:spPr>
          <a:xfrm>
            <a:off x="411480" y="2140000"/>
            <a:ext cx="24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hape"/>
          <p:cNvSpPr/>
          <p:nvPr/>
        </p:nvSpPr>
        <p:spPr>
          <a:xfrm>
            <a:off x="2911480" y="214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hape"/>
          <p:cNvSpPr/>
          <p:nvPr/>
        </p:nvSpPr>
        <p:spPr>
          <a:xfrm>
            <a:off x="6011480" y="214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/>
          <p:nvPr/>
        </p:nvSpPr>
        <p:spPr>
          <a:xfrm>
            <a:off x="491480" y="222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Network</a:t>
            </a:r>
          </a:p>
        </p:txBody>
      </p:sp>
      <p:sp>
        <p:nvSpPr>
          <p:cNvPr id="28" name="Text"/>
          <p:cNvSpPr/>
          <p:nvPr/>
        </p:nvSpPr>
        <p:spPr>
          <a:xfrm>
            <a:off x="2991480" y="222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App → LLM only</a:t>
            </a:r>
          </a:p>
        </p:txBody>
      </p:sp>
      <p:sp>
        <p:nvSpPr>
          <p:cNvPr id="29" name="Text"/>
          <p:cNvSpPr/>
          <p:nvPr/>
        </p:nvSpPr>
        <p:spPr>
          <a:xfrm>
            <a:off x="6091480" y="222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App → copilot.sim.ai → LLM</a:t>
            </a:r>
          </a:p>
        </p:txBody>
      </p:sp>
      <p:sp>
        <p:nvSpPr>
          <p:cNvPr id="30" name="Shape"/>
          <p:cNvSpPr/>
          <p:nvPr/>
        </p:nvSpPr>
        <p:spPr>
          <a:xfrm>
            <a:off x="411480" y="2510000"/>
            <a:ext cx="24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hape"/>
          <p:cNvSpPr/>
          <p:nvPr/>
        </p:nvSpPr>
        <p:spPr>
          <a:xfrm>
            <a:off x="2911480" y="251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hape"/>
          <p:cNvSpPr/>
          <p:nvPr/>
        </p:nvSpPr>
        <p:spPr>
          <a:xfrm>
            <a:off x="6011480" y="251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/>
          <p:nvPr/>
        </p:nvSpPr>
        <p:spPr>
          <a:xfrm>
            <a:off x="491480" y="259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Session mem</a:t>
            </a:r>
          </a:p>
        </p:txBody>
      </p:sp>
      <p:sp>
        <p:nvSpPr>
          <p:cNvPr id="34" name="Text"/>
          <p:cNvSpPr/>
          <p:nvPr/>
        </p:nvSpPr>
        <p:spPr>
          <a:xfrm>
            <a:off x="2991480" y="259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config.sessionMemory JSON</a:t>
            </a:r>
          </a:p>
        </p:txBody>
      </p:sp>
      <p:sp>
        <p:nvSpPr>
          <p:cNvPr id="35" name="Text"/>
          <p:cNvSpPr/>
          <p:nvPr/>
        </p:nvSpPr>
        <p:spPr>
          <a:xfrm>
            <a:off x="6091480" y="259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Go-side memory</a:t>
            </a:r>
          </a:p>
        </p:txBody>
      </p:sp>
      <p:sp>
        <p:nvSpPr>
          <p:cNvPr id="36" name="Shape"/>
          <p:cNvSpPr/>
          <p:nvPr/>
        </p:nvSpPr>
        <p:spPr>
          <a:xfrm>
            <a:off x="411480" y="2880000"/>
            <a:ext cx="24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hape"/>
          <p:cNvSpPr/>
          <p:nvPr/>
        </p:nvSpPr>
        <p:spPr>
          <a:xfrm>
            <a:off x="2911480" y="288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hape"/>
          <p:cNvSpPr/>
          <p:nvPr/>
        </p:nvSpPr>
        <p:spPr>
          <a:xfrm>
            <a:off x="6011480" y="288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/>
          <p:nvPr/>
        </p:nvSpPr>
        <p:spPr>
          <a:xfrm>
            <a:off x="491480" y="296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 cache</a:t>
            </a:r>
          </a:p>
        </p:txBody>
      </p:sp>
      <p:sp>
        <p:nvSpPr>
          <p:cNvPr id="40" name="Text"/>
          <p:cNvSpPr/>
          <p:nvPr/>
        </p:nvSpPr>
        <p:spPr>
          <a:xfrm>
            <a:off x="2991480" y="296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Anthropic / Bedrock 1h TTL</a:t>
            </a:r>
          </a:p>
        </p:txBody>
      </p:sp>
      <p:sp>
        <p:nvSpPr>
          <p:cNvPr id="41" name="Text"/>
          <p:cNvSpPr/>
          <p:nvPr/>
        </p:nvSpPr>
        <p:spPr>
          <a:xfrm>
            <a:off x="6091480" y="296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Go-side (N/A to Local)</a:t>
            </a:r>
          </a:p>
        </p:txBody>
      </p:sp>
      <p:sp>
        <p:nvSpPr>
          <p:cNvPr id="42" name="Shape"/>
          <p:cNvSpPr/>
          <p:nvPr/>
        </p:nvSpPr>
        <p:spPr>
          <a:xfrm>
            <a:off x="411480" y="3250000"/>
            <a:ext cx="24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hape"/>
          <p:cNvSpPr/>
          <p:nvPr/>
        </p:nvSpPr>
        <p:spPr>
          <a:xfrm>
            <a:off x="2911480" y="325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hape"/>
          <p:cNvSpPr/>
          <p:nvPr/>
        </p:nvSpPr>
        <p:spPr>
          <a:xfrm>
            <a:off x="6011480" y="325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/>
          <p:nvPr/>
        </p:nvSpPr>
        <p:spPr>
          <a:xfrm>
            <a:off x="491480" y="333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Tools</a:t>
            </a:r>
          </a:p>
        </p:txBody>
      </p:sp>
      <p:sp>
        <p:nvSpPr>
          <p:cNvPr id="46" name="Text"/>
          <p:cNvSpPr/>
          <p:nvPr/>
        </p:nvSpPr>
        <p:spPr>
          <a:xfrm>
            <a:off x="2991480" y="333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~75 portable + local extras</a:t>
            </a:r>
          </a:p>
        </p:txBody>
      </p:sp>
      <p:sp>
        <p:nvSpPr>
          <p:cNvPr id="47" name="Text"/>
          <p:cNvSpPr/>
          <p:nvPr/>
        </p:nvSpPr>
        <p:spPr>
          <a:xfrm>
            <a:off x="6091480" y="333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Full 95-tool catalog</a:t>
            </a:r>
          </a:p>
        </p:txBody>
      </p:sp>
      <p:sp>
        <p:nvSpPr>
          <p:cNvPr id="48" name="Shape"/>
          <p:cNvSpPr/>
          <p:nvPr/>
        </p:nvSpPr>
        <p:spPr>
          <a:xfrm>
            <a:off x="411480" y="3620000"/>
            <a:ext cx="24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hape"/>
          <p:cNvSpPr/>
          <p:nvPr/>
        </p:nvSpPr>
        <p:spPr>
          <a:xfrm>
            <a:off x="2911480" y="362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hape"/>
          <p:cNvSpPr/>
          <p:nvPr/>
        </p:nvSpPr>
        <p:spPr>
          <a:xfrm>
            <a:off x="6011480" y="3620000"/>
            <a:ext cx="3000000" cy="36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/>
          <p:nvPr/>
        </p:nvSpPr>
        <p:spPr>
          <a:xfrm>
            <a:off x="491480" y="370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Specialists</a:t>
            </a:r>
          </a:p>
        </p:txBody>
      </p:sp>
      <p:sp>
        <p:nvSpPr>
          <p:cNvPr id="52" name="Text"/>
          <p:cNvSpPr/>
          <p:nvPr/>
        </p:nvSpPr>
        <p:spPr>
          <a:xfrm>
            <a:off x="2991480" y="370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12 nested TS loops</a:t>
            </a:r>
          </a:p>
        </p:txBody>
      </p:sp>
      <p:sp>
        <p:nvSpPr>
          <p:cNvPr id="53" name="Text"/>
          <p:cNvSpPr/>
          <p:nvPr/>
        </p:nvSpPr>
        <p:spPr>
          <a:xfrm>
            <a:off x="6091480" y="370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12 Go subagent processes</a:t>
            </a:r>
          </a:p>
        </p:txBody>
      </p:sp>
      <p:sp>
        <p:nvSpPr>
          <p:cNvPr id="54" name="Shape"/>
          <p:cNvSpPr/>
          <p:nvPr/>
        </p:nvSpPr>
        <p:spPr>
          <a:xfrm>
            <a:off x="411480" y="3990000"/>
            <a:ext cx="24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hape"/>
          <p:cNvSpPr/>
          <p:nvPr/>
        </p:nvSpPr>
        <p:spPr>
          <a:xfrm>
            <a:off x="2911480" y="399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hape"/>
          <p:cNvSpPr/>
          <p:nvPr/>
        </p:nvSpPr>
        <p:spPr>
          <a:xfrm>
            <a:off x="6011480" y="3990000"/>
            <a:ext cx="3000000" cy="36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"/>
          <p:cNvSpPr/>
          <p:nvPr/>
        </p:nvSpPr>
        <p:spPr>
          <a:xfrm>
            <a:off x="491480" y="4070000"/>
            <a:ext cx="22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Scale unit</a:t>
            </a:r>
          </a:p>
        </p:txBody>
      </p:sp>
      <p:sp>
        <p:nvSpPr>
          <p:cNvPr id="58" name="Text"/>
          <p:cNvSpPr/>
          <p:nvPr/>
        </p:nvSpPr>
        <p:spPr>
          <a:xfrm>
            <a:off x="2991480" y="407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Scales with Next.js instances</a:t>
            </a:r>
          </a:p>
        </p:txBody>
      </p:sp>
      <p:sp>
        <p:nvSpPr>
          <p:cNvPr id="59" name="Text"/>
          <p:cNvSpPr/>
          <p:nvPr/>
        </p:nvSpPr>
        <p:spPr>
          <a:xfrm>
            <a:off x="6091480" y="4070000"/>
            <a:ext cx="2800000" cy="25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Separate Go scale unit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Local vs Mothership — capabilities &amp; when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Design intent: parity on core flows, not a full Cloud clone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22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4200000" cy="3400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0972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Choose Local when…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84048"/>
            <a:ext cx="3980544" cy="29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Data residency / private cloud is required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need air-gapped or internal LLM gateway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want BYO models and direct cost control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Core build / run / deploy / files / tables / KB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want Waves 1–6 app-owned guardrails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Gradual allowlist rollout (or local_only pins)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Anthropic prompt caching on the Local path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900000"/>
            <a:ext cx="3800000" cy="34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100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Choose Cloud when…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284048"/>
            <a:ext cx="3580544" cy="29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need scrape / crawl / page / docs /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patterns web research suite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want Go-scale multi-agent first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New Cloud features land before port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prefer managed models (no BYO ops)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Separate scale unit from the web app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Hard parent=specialists-only Cloud mode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Pros &amp; Cons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Honest trade-offs for Local Copilot and Cloud Mothership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23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4060520" cy="45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11480" y="980000"/>
            <a:ext cx="386052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cs typeface="Arial"/>
                <a:ea typeface="Arial"/>
                <a:solidFill>
                  <a:srgbClr val="FFFFFF"/>
                </a:solidFill>
                <a:latin typeface="Arial"/>
              </a:rPr>
              <a:t>Local Copilot</a:t>
            </a:r>
          </a:p>
        </p:txBody>
      </p:sp>
      <p:sp>
        <p:nvSpPr>
          <p:cNvPr id="8" name="Shape"/>
          <p:cNvSpPr/>
          <p:nvPr/>
        </p:nvSpPr>
        <p:spPr>
          <a:xfrm>
            <a:off x="411480" y="1400000"/>
            <a:ext cx="4060520" cy="3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/>
          <p:nvPr/>
        </p:nvSpPr>
        <p:spPr>
          <a:xfrm>
            <a:off x="531480" y="1550000"/>
            <a:ext cx="3820520" cy="27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Data residency &amp; privacy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No copilot.sim.ai dependency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Air-gapped / BYO models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App-owned safety waves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Same chat UI &amp; shared history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Prompt caching (Anthropic)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Allowlist + local_only control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/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Missing Go web research tools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Ops: keys, models, scaling on you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No auto failover if provider down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New features often land on Go first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Scales with Next.js (no separate unit)</a:t>
            </a:r>
          </a:p>
        </p:txBody>
      </p:sp>
      <p:sp>
        <p:nvSpPr>
          <p:cNvPr id="10" name="Shape"/>
          <p:cNvSpPr/>
          <p:nvPr/>
        </p:nvSpPr>
        <p:spPr>
          <a:xfrm>
            <a:off x="4672000" y="900000"/>
            <a:ext cx="4060520" cy="45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/>
          <p:nvPr/>
        </p:nvSpPr>
        <p:spPr>
          <a:xfrm>
            <a:off x="4772000" y="980000"/>
            <a:ext cx="3860520" cy="3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cs typeface="Arial"/>
                <a:ea typeface="Arial"/>
                <a:solidFill>
                  <a:srgbClr val="FFFFFF"/>
                </a:solidFill>
                <a:latin typeface="Arial"/>
              </a:rPr>
              <a:t>Cloud Mothership</a:t>
            </a:r>
          </a:p>
        </p:txBody>
      </p:sp>
      <p:sp>
        <p:nvSpPr>
          <p:cNvPr id="12" name="Shape"/>
          <p:cNvSpPr/>
          <p:nvPr/>
        </p:nvSpPr>
        <p:spPr>
          <a:xfrm>
            <a:off x="4672000" y="1400000"/>
            <a:ext cx="4060520" cy="30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4792000" y="1550000"/>
            <a:ext cx="3820520" cy="27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Full tool catalog + web suite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Separate Go scale unit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Features ship here first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Managed orchestration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Hard specialists-only mode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+ No LLM key ops for tenants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/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Traffic leaves via copilot.sim.ai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Dependency on Arena Cloud agent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Less residency control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Model choice constrained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− Not air-gapped friendly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Pros &amp; Cons — Local deep dive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Moving from Cloud to Local: advantages vs trade-offs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24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4200000" cy="340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09728"/>
            <a:ext cx="39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Advantages (detail)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84048"/>
            <a:ext cx="3980544" cy="29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Prompts &amp; structure never leave your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infra except to the LLM you choose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Vendor outage cannot kill Local users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Direct app → provider (one less hop)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BYO keys; same spend gates when billing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Any Anthropic / OpenAI-compatible model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Postgres audit (esp. standalone path)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Waves 1–6 code-enforced reliability</a:t>
            </a:r>
          </a:p>
        </p:txBody>
      </p:sp>
      <p:sp>
        <p:nvSpPr>
          <p:cNvPr id="9" name="Shape"/>
          <p:cNvSpPr/>
          <p:nvPr/>
        </p:nvSpPr>
        <p:spPr>
          <a:xfrm>
            <a:off x="4900000" y="900000"/>
            <a:ext cx="3800000" cy="3400000"/>
          </a:xfrm>
          <a:prstGeom prst="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5009728" y="1009728"/>
            <a:ext cx="358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Disadvantages (detail)</a:t>
            </a:r>
          </a:p>
        </p:txBody>
      </p:sp>
      <p:sp>
        <p:nvSpPr>
          <p:cNvPr id="11" name="Text"/>
          <p:cNvSpPr/>
          <p:nvPr/>
        </p:nvSpPr>
        <p:spPr>
          <a:xfrm>
            <a:off x="5009728" y="1284048"/>
            <a:ext cx="3580544" cy="29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Gap: scrape/crawl/page/docs/patterns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set_environment_variables withheld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You own keys, upgrades, allowlist, DB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Agent load = Next.js concurrency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No auto Cloud failover (esp. local_only)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Parity drift — port features deliberately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Token pressure on huge workflows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• Cache-aware Anthropic rates not yet</a:t>
            </a:r>
          </a:p>
          <a:p>
            <a:r>
              <a:rPr sz="12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  fully applied in recordModelUsage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Key files map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Where to look in apps/sim/local-copilot</a:t>
            </a:r>
          </a:p>
        </p:txBody>
      </p:sp>
      <p:sp>
        <p:nvSpPr>
          <p:cNvPr id="5" name="Page"/>
          <p:cNvSpPr/>
          <p:nvPr/>
        </p:nvSpPr>
        <p:spPr>
          <a:xfrm>
            <a:off x="8549640" y="4800600"/>
            <a:ext cx="4572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1000" b="0">
                <a:cs typeface="Arial"/>
                <a:ea typeface="Arial"/>
                <a:solidFill>
                  <a:srgbClr val="64748B"/>
                </a:solidFill>
                <a:latin typeface="Arial"/>
              </a:rPr>
              <a:t>25</a:t>
            </a:r>
          </a:p>
        </p:txBody>
      </p:sp>
      <p:sp>
        <p:nvSpPr>
          <p:cNvPr id="6" name="Shape"/>
          <p:cNvSpPr/>
          <p:nvPr/>
        </p:nvSpPr>
        <p:spPr>
          <a:xfrm>
            <a:off x="411480" y="9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/>
          <p:nvPr/>
        </p:nvSpPr>
        <p:spPr>
          <a:xfrm>
            <a:off x="521208" y="10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routing.ts</a:t>
            </a:r>
          </a:p>
        </p:txBody>
      </p:sp>
      <p:sp>
        <p:nvSpPr>
          <p:cNvPr id="8" name="Text"/>
          <p:cNvSpPr/>
          <p:nvPr/>
        </p:nvSpPr>
        <p:spPr>
          <a:xfrm>
            <a:off x="521208" y="12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shouldRouteToLocalCopilot</a:t>
            </a:r>
          </a:p>
        </p:txBody>
      </p:sp>
      <p:sp>
        <p:nvSpPr>
          <p:cNvPr id="9" name="Shape"/>
          <p:cNvSpPr/>
          <p:nvPr/>
        </p:nvSpPr>
        <p:spPr>
          <a:xfrm>
            <a:off x="3311480" y="9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/>
          <p:nvPr/>
        </p:nvSpPr>
        <p:spPr>
          <a:xfrm>
            <a:off x="3421208" y="10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integration/mothership-lifecycle.ts</a:t>
            </a:r>
          </a:p>
        </p:txBody>
      </p:sp>
      <p:sp>
        <p:nvSpPr>
          <p:cNvPr id="11" name="Text"/>
          <p:cNvSpPr/>
          <p:nvPr/>
        </p:nvSpPr>
        <p:spPr>
          <a:xfrm>
            <a:off x="3421208" y="12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SSE bridge · confirmations · patches</a:t>
            </a:r>
          </a:p>
        </p:txBody>
      </p:sp>
      <p:sp>
        <p:nvSpPr>
          <p:cNvPr id="12" name="Shape"/>
          <p:cNvSpPr/>
          <p:nvPr/>
        </p:nvSpPr>
        <p:spPr>
          <a:xfrm>
            <a:off x="6211480" y="9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/>
          <p:nvPr/>
        </p:nvSpPr>
        <p:spPr>
          <a:xfrm>
            <a:off x="6321208" y="10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lib/agent/orchestrator.ts</a:t>
            </a:r>
          </a:p>
        </p:txBody>
      </p:sp>
      <p:sp>
        <p:nvSpPr>
          <p:cNvPr id="14" name="Text"/>
          <p:cNvSpPr/>
          <p:nvPr/>
        </p:nvSpPr>
        <p:spPr>
          <a:xfrm>
            <a:off x="6321208" y="12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Main agent loop</a:t>
            </a:r>
          </a:p>
        </p:txBody>
      </p:sp>
      <p:sp>
        <p:nvSpPr>
          <p:cNvPr id="15" name="Shape"/>
          <p:cNvSpPr/>
          <p:nvPr/>
        </p:nvSpPr>
        <p:spPr>
          <a:xfrm>
            <a:off x="411480" y="18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/>
          <p:nvPr/>
        </p:nvSpPr>
        <p:spPr>
          <a:xfrm>
            <a:off x="521208" y="19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lib/agent/specialists/*</a:t>
            </a:r>
          </a:p>
        </p:txBody>
      </p:sp>
      <p:sp>
        <p:nvSpPr>
          <p:cNvPr id="17" name="Text"/>
          <p:cNvSpPr/>
          <p:nvPr/>
        </p:nvSpPr>
        <p:spPr>
          <a:xfrm>
            <a:off x="521208" y="21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Classify · domains · nested loops</a:t>
            </a:r>
          </a:p>
        </p:txBody>
      </p:sp>
      <p:sp>
        <p:nvSpPr>
          <p:cNvPr id="18" name="Shape"/>
          <p:cNvSpPr/>
          <p:nvPr/>
        </p:nvSpPr>
        <p:spPr>
          <a:xfrm>
            <a:off x="3311480" y="18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/>
          <p:nvPr/>
        </p:nvSpPr>
        <p:spPr>
          <a:xfrm>
            <a:off x="3421208" y="19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lib/context/session-memory.ts</a:t>
            </a:r>
          </a:p>
        </p:txBody>
      </p:sp>
      <p:sp>
        <p:nvSpPr>
          <p:cNvPr id="20" name="Text"/>
          <p:cNvSpPr/>
          <p:nvPr/>
        </p:nvSpPr>
        <p:spPr>
          <a:xfrm>
            <a:off x="3421208" y="21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Scratchpad schema · refresh · persist</a:t>
            </a:r>
          </a:p>
        </p:txBody>
      </p:sp>
      <p:sp>
        <p:nvSpPr>
          <p:cNvPr id="21" name="Shape"/>
          <p:cNvSpPr/>
          <p:nvPr/>
        </p:nvSpPr>
        <p:spPr>
          <a:xfrm>
            <a:off x="6211480" y="18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/>
          <p:nvPr/>
        </p:nvSpPr>
        <p:spPr>
          <a:xfrm>
            <a:off x="6321208" y="19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lib/providers/anthropic*.ts</a:t>
            </a:r>
          </a:p>
        </p:txBody>
      </p:sp>
      <p:sp>
        <p:nvSpPr>
          <p:cNvPr id="23" name="Text"/>
          <p:cNvSpPr/>
          <p:nvPr/>
        </p:nvSpPr>
        <p:spPr>
          <a:xfrm>
            <a:off x="6321208" y="21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Prompt cache_control · usage</a:t>
            </a:r>
          </a:p>
        </p:txBody>
      </p:sp>
      <p:sp>
        <p:nvSpPr>
          <p:cNvPr id="24" name="Shape"/>
          <p:cNvSpPr/>
          <p:nvPr/>
        </p:nvSpPr>
        <p:spPr>
          <a:xfrm>
            <a:off x="411480" y="27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/>
          <p:nvPr/>
        </p:nvSpPr>
        <p:spPr>
          <a:xfrm>
            <a:off x="521208" y="28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lib/providers/bedrock.ts</a:t>
            </a:r>
          </a:p>
        </p:txBody>
      </p:sp>
      <p:sp>
        <p:nvSpPr>
          <p:cNvPr id="26" name="Text"/>
          <p:cNvSpPr/>
          <p:nvPr/>
        </p:nvSpPr>
        <p:spPr>
          <a:xfrm>
            <a:off x="521208" y="30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Bedrock cachePoint · TTL 1h</a:t>
            </a:r>
          </a:p>
        </p:txBody>
      </p:sp>
      <p:sp>
        <p:nvSpPr>
          <p:cNvPr id="27" name="Shape"/>
          <p:cNvSpPr/>
          <p:nvPr/>
        </p:nvSpPr>
        <p:spPr>
          <a:xfrm>
            <a:off x="3311480" y="27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/>
          <p:nvPr/>
        </p:nvSpPr>
        <p:spPr>
          <a:xfrm>
            <a:off x="3421208" y="28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lib/context/microcompact.ts</a:t>
            </a:r>
          </a:p>
        </p:txBody>
      </p:sp>
      <p:sp>
        <p:nvSpPr>
          <p:cNvPr id="29" name="Text"/>
          <p:cNvSpPr/>
          <p:nvPr/>
        </p:nvSpPr>
        <p:spPr>
          <a:xfrm>
            <a:off x="3421208" y="30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Zero-cost tool-result fingerprints</a:t>
            </a:r>
          </a:p>
        </p:txBody>
      </p:sp>
      <p:sp>
        <p:nvSpPr>
          <p:cNvPr id="30" name="Shape"/>
          <p:cNvSpPr/>
          <p:nvPr/>
        </p:nvSpPr>
        <p:spPr>
          <a:xfrm>
            <a:off x="6211480" y="27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/>
          <p:nvPr/>
        </p:nvSpPr>
        <p:spPr>
          <a:xfrm>
            <a:off x="6321208" y="28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lib/context/snapshot-delta.ts</a:t>
            </a:r>
          </a:p>
        </p:txBody>
      </p:sp>
      <p:sp>
        <p:nvSpPr>
          <p:cNvPr id="32" name="Text"/>
          <p:cNvSpPr/>
          <p:nvPr/>
        </p:nvSpPr>
        <p:spPr>
          <a:xfrm>
            <a:off x="6321208" y="30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VFS full / delta / unchanged</a:t>
            </a:r>
          </a:p>
        </p:txBody>
      </p:sp>
      <p:sp>
        <p:nvSpPr>
          <p:cNvPr id="33" name="Shape"/>
          <p:cNvSpPr/>
          <p:nvPr/>
        </p:nvSpPr>
        <p:spPr>
          <a:xfrm>
            <a:off x="411480" y="36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/>
          <p:nvPr/>
        </p:nvSpPr>
        <p:spPr>
          <a:xfrm>
            <a:off x="521208" y="37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lib/security/* · verification/*</a:t>
            </a:r>
          </a:p>
        </p:txBody>
      </p:sp>
      <p:sp>
        <p:nvSpPr>
          <p:cNvPr id="35" name="Text"/>
          <p:cNvSpPr/>
          <p:nvPr/>
        </p:nvSpPr>
        <p:spPr>
          <a:xfrm>
            <a:off x="521208" y="39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Confirm · verify · sanitize</a:t>
            </a:r>
          </a:p>
        </p:txBody>
      </p:sp>
      <p:sp>
        <p:nvSpPr>
          <p:cNvPr id="36" name="Shape"/>
          <p:cNvSpPr/>
          <p:nvPr/>
        </p:nvSpPr>
        <p:spPr>
          <a:xfrm>
            <a:off x="3311480" y="36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/>
          <p:nvPr/>
        </p:nvSpPr>
        <p:spPr>
          <a:xfrm>
            <a:off x="3421208" y="37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lib/writes/* · billing/*</a:t>
            </a:r>
          </a:p>
        </p:txBody>
      </p:sp>
      <p:sp>
        <p:nvSpPr>
          <p:cNvPr id="38" name="Text"/>
          <p:cNvSpPr/>
          <p:nvPr/>
        </p:nvSpPr>
        <p:spPr>
          <a:xfrm>
            <a:off x="3421208" y="39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Pin · revision · spend caps</a:t>
            </a:r>
          </a:p>
        </p:txBody>
      </p:sp>
      <p:sp>
        <p:nvSpPr>
          <p:cNvPr id="39" name="Shape"/>
          <p:cNvSpPr/>
          <p:nvPr/>
        </p:nvSpPr>
        <p:spPr>
          <a:xfrm>
            <a:off x="6211480" y="3600000"/>
            <a:ext cx="2750000" cy="800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/>
          <p:nvPr/>
        </p:nvSpPr>
        <p:spPr>
          <a:xfrm>
            <a:off x="6321208" y="3709728"/>
            <a:ext cx="253054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cs typeface="Arial"/>
                <a:ea typeface="Arial"/>
                <a:solidFill>
                  <a:srgbClr val="1E293B"/>
                </a:solidFill>
                <a:latin typeface="Arial"/>
              </a:rPr>
              <a:t>overview.md / README.md</a:t>
            </a:r>
          </a:p>
        </p:txBody>
      </p:sp>
      <p:sp>
        <p:nvSpPr>
          <p:cNvPr id="41" name="Text"/>
          <p:cNvSpPr/>
          <p:nvPr/>
        </p:nvSpPr>
        <p:spPr>
          <a:xfrm>
            <a:off x="6321208" y="3984048"/>
            <a:ext cx="2530544" cy="3610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cs typeface="Arial"/>
                <a:ea typeface="Arial"/>
                <a:solidFill>
                  <a:srgbClr val="1E293B"/>
                </a:solidFill>
                <a:latin typeface="Arial"/>
              </a:rPr>
              <a:t>Long-form technical + operator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